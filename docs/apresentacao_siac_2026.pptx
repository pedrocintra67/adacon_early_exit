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16114742e41f0" /><Relationship Type="http://schemas.openxmlformats.org/officeDocument/2006/relationships/extended-properties" Target="/docProps/app.xml" Id="Re31f189c87bd412d" /><Relationship Type="http://schemas.openxmlformats.org/officeDocument/2006/relationships/officeDocument" Target="/ppt/presentation.xml" Id="Rd3c7d692490949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c499ac1eab40e2"/>
  </p:sldMasterIdLst>
  <p:notesMasterIdLst>
    <p:notesMasterId xmlns:r="http://schemas.openxmlformats.org/officeDocument/2006/relationships" r:id="R825412120c264dfb"/>
  </p:notesMasterIdLst>
  <p:sldIdLst>
    <p:sldId xmlns:r="http://schemas.openxmlformats.org/officeDocument/2006/relationships" id="256" r:id="Ra5ccf76010d941f1"/>
    <p:sldId xmlns:r="http://schemas.openxmlformats.org/officeDocument/2006/relationships" id="257" r:id="R224e5cdc692e4673"/>
    <p:sldId xmlns:r="http://schemas.openxmlformats.org/officeDocument/2006/relationships" id="258" r:id="R29947664f8cf488f"/>
    <p:sldId xmlns:r="http://schemas.openxmlformats.org/officeDocument/2006/relationships" id="259" r:id="R7c6178a078ad465b"/>
    <p:sldId xmlns:r="http://schemas.openxmlformats.org/officeDocument/2006/relationships" id="260" r:id="R1ebdebec4d034760"/>
    <p:sldId xmlns:r="http://schemas.openxmlformats.org/officeDocument/2006/relationships" id="261" r:id="Rf0affdf86f944b65"/>
    <p:sldId xmlns:r="http://schemas.openxmlformats.org/officeDocument/2006/relationships" id="262" r:id="Re7d925d0b430476d"/>
    <p:sldId xmlns:r="http://schemas.openxmlformats.org/officeDocument/2006/relationships" id="263" r:id="R2507867824634667"/>
    <p:sldId xmlns:r="http://schemas.openxmlformats.org/officeDocument/2006/relationships" id="264" r:id="Rce96b4e97b2c4f0e"/>
    <p:sldId xmlns:r="http://schemas.openxmlformats.org/officeDocument/2006/relationships" id="265" r:id="R69334406a0aa40ae"/>
    <p:sldId xmlns:r="http://schemas.openxmlformats.org/officeDocument/2006/relationships" id="266" r:id="R06393c2bdcce4b29"/>
    <p:sldId xmlns:r="http://schemas.openxmlformats.org/officeDocument/2006/relationships" id="267" r:id="R6fe70135f76e494c"/>
    <p:sldId xmlns:r="http://schemas.openxmlformats.org/officeDocument/2006/relationships" id="268" r:id="Re3697ae6ed4d4481"/>
    <p:sldId xmlns:r="http://schemas.openxmlformats.org/officeDocument/2006/relationships" id="269" r:id="R85cb6cf8ee0b43d1"/>
    <p:sldId xmlns:r="http://schemas.openxmlformats.org/officeDocument/2006/relationships" id="270" r:id="R8a6218dcdc13481c"/>
    <p:sldId xmlns:r="http://schemas.openxmlformats.org/officeDocument/2006/relationships" id="271" r:id="R544ae882a760431e"/>
    <p:sldId xmlns:r="http://schemas.openxmlformats.org/officeDocument/2006/relationships" id="272" r:id="R6e3460d579f54ba0"/>
    <p:sldId xmlns:r="http://schemas.openxmlformats.org/officeDocument/2006/relationships" id="273" r:id="R069abeb4f1654154"/>
    <p:sldId xmlns:r="http://schemas.openxmlformats.org/officeDocument/2006/relationships" id="274" r:id="Re3f0a0b9b23f41b7"/>
    <p:sldId xmlns:r="http://schemas.openxmlformats.org/officeDocument/2006/relationships" id="275" r:id="R7a27299115204d1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f8337b30764fae" /><Relationship Type="http://schemas.openxmlformats.org/officeDocument/2006/relationships/slideMaster" Target="/ppt/slideMasters/slideMaster1.xml" Id="Rf9c499ac1eab40e2" /><Relationship Type="http://schemas.openxmlformats.org/officeDocument/2006/relationships/notesMaster" Target="/ppt/notesMasters/notesMaster1.xml" Id="R825412120c264dfb" /><Relationship Type="http://schemas.openxmlformats.org/officeDocument/2006/relationships/presProps" Target="/ppt/presProps.xml" Id="R1ea4136d00fb4933" /><Relationship Type="http://schemas.openxmlformats.org/officeDocument/2006/relationships/tableStyles" Target="/ppt/tableStyles.xml" Id="R4bdb3dc050044679" /><Relationship Type="http://schemas.openxmlformats.org/officeDocument/2006/relationships/slide" Target="/ppt/slides/slide1.xml" Id="Ra5ccf76010d941f1" /><Relationship Type="http://schemas.openxmlformats.org/officeDocument/2006/relationships/slide" Target="/ppt/slides/slide2.xml" Id="R224e5cdc692e4673" /><Relationship Type="http://schemas.openxmlformats.org/officeDocument/2006/relationships/slide" Target="/ppt/slides/slide3.xml" Id="R29947664f8cf488f" /><Relationship Type="http://schemas.openxmlformats.org/officeDocument/2006/relationships/slide" Target="/ppt/slides/slide4.xml" Id="R7c6178a078ad465b" /><Relationship Type="http://schemas.openxmlformats.org/officeDocument/2006/relationships/slide" Target="/ppt/slides/slide5.xml" Id="R1ebdebec4d034760" /><Relationship Type="http://schemas.openxmlformats.org/officeDocument/2006/relationships/slide" Target="/ppt/slides/slide6.xml" Id="Rf0affdf86f944b65" /><Relationship Type="http://schemas.openxmlformats.org/officeDocument/2006/relationships/slide" Target="/ppt/slides/slide7.xml" Id="Re7d925d0b430476d" /><Relationship Type="http://schemas.openxmlformats.org/officeDocument/2006/relationships/slide" Target="/ppt/slides/slide8.xml" Id="R2507867824634667" /><Relationship Type="http://schemas.openxmlformats.org/officeDocument/2006/relationships/slide" Target="/ppt/slides/slide9.xml" Id="Rce96b4e97b2c4f0e" /><Relationship Type="http://schemas.openxmlformats.org/officeDocument/2006/relationships/slide" Target="/ppt/slides/slide10.xml" Id="R69334406a0aa40ae" /><Relationship Type="http://schemas.openxmlformats.org/officeDocument/2006/relationships/slide" Target="/ppt/slides/slide11.xml" Id="R06393c2bdcce4b29" /><Relationship Type="http://schemas.openxmlformats.org/officeDocument/2006/relationships/slide" Target="/ppt/slides/slide12.xml" Id="R6fe70135f76e494c" /><Relationship Type="http://schemas.openxmlformats.org/officeDocument/2006/relationships/slide" Target="/ppt/slides/slide13.xml" Id="Re3697ae6ed4d4481" /><Relationship Type="http://schemas.openxmlformats.org/officeDocument/2006/relationships/slide" Target="/ppt/slides/slide14.xml" Id="R85cb6cf8ee0b43d1" /><Relationship Type="http://schemas.openxmlformats.org/officeDocument/2006/relationships/slide" Target="/ppt/slides/slide15.xml" Id="R8a6218dcdc13481c" /><Relationship Type="http://schemas.openxmlformats.org/officeDocument/2006/relationships/slide" Target="/ppt/slides/slide16.xml" Id="R544ae882a760431e" /><Relationship Type="http://schemas.openxmlformats.org/officeDocument/2006/relationships/slide" Target="/ppt/slides/slide17.xml" Id="R6e3460d579f54ba0" /><Relationship Type="http://schemas.openxmlformats.org/officeDocument/2006/relationships/slide" Target="/ppt/slides/slide18.xml" Id="R069abeb4f1654154" /><Relationship Type="http://schemas.openxmlformats.org/officeDocument/2006/relationships/slide" Target="/ppt/slides/slide19.xml" Id="Re3f0a0b9b23f41b7" /><Relationship Type="http://schemas.openxmlformats.org/officeDocument/2006/relationships/slide" Target="/ppt/slides/slide20.xml" Id="R7a27299115204d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039199380a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GT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5997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d361670e3d4c2b" /><Relationship Type="http://schemas.openxmlformats.org/officeDocument/2006/relationships/notesMaster" Target="/ppt/notesMasters/notesMaster1.xml" Id="R39ba979094a24d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2ddf08542242ad" /><Relationship Type="http://schemas.openxmlformats.org/officeDocument/2006/relationships/notesMaster" Target="/ppt/notesMasters/notesMaster1.xml" Id="Re88d2bc708b0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3f81bec466471c" /><Relationship Type="http://schemas.openxmlformats.org/officeDocument/2006/relationships/notesMaster" Target="/ppt/notesMasters/notesMaster1.xml" Id="Rd2364d33465c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a159a5a51d42f5" /><Relationship Type="http://schemas.openxmlformats.org/officeDocument/2006/relationships/notesMaster" Target="/ppt/notesMasters/notesMaster1.xml" Id="R4c6d28f3cf6f4e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6fffbeda7c4265" /><Relationship Type="http://schemas.openxmlformats.org/officeDocument/2006/relationships/notesMaster" Target="/ppt/notesMasters/notesMaster1.xml" Id="R783c9cd0261447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5ad47056954594" /><Relationship Type="http://schemas.openxmlformats.org/officeDocument/2006/relationships/notesMaster" Target="/ppt/notesMasters/notesMaster1.xml" Id="Rbc6a4c43f36a42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fb8219255e4089" /><Relationship Type="http://schemas.openxmlformats.org/officeDocument/2006/relationships/notesMaster" Target="/ppt/notesMasters/notesMaster1.xml" Id="R40e7b8cd2ee34a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daf931326c4082" /><Relationship Type="http://schemas.openxmlformats.org/officeDocument/2006/relationships/notesMaster" Target="/ppt/notesMasters/notesMaster1.xml" Id="R49e067942542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b5466a87884fe0" /><Relationship Type="http://schemas.openxmlformats.org/officeDocument/2006/relationships/notesMaster" Target="/ppt/notesMasters/notesMaster1.xml" Id="R38532dca134146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992e4b4dd24ffc" /><Relationship Type="http://schemas.openxmlformats.org/officeDocument/2006/relationships/notesMaster" Target="/ppt/notesMasters/notesMaster1.xml" Id="R730f0e82373f43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c6a487b0f444ff" /><Relationship Type="http://schemas.openxmlformats.org/officeDocument/2006/relationships/notesMaster" Target="/ppt/notesMasters/notesMaster1.xml" Id="Rcb1613427a9645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008c3b87594bd4" /><Relationship Type="http://schemas.openxmlformats.org/officeDocument/2006/relationships/notesMaster" Target="/ppt/notesMasters/notesMaster1.xml" Id="R00ebc28edea94f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190dce330a4da3" /><Relationship Type="http://schemas.openxmlformats.org/officeDocument/2006/relationships/notesMaster" Target="/ppt/notesMasters/notesMaster1.xml" Id="R38962d6dda6746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ca56c3febb49d9" /><Relationship Type="http://schemas.openxmlformats.org/officeDocument/2006/relationships/notesMaster" Target="/ppt/notesMasters/notesMaster1.xml" Id="R722f7e3feba043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639485ab954abe" /><Relationship Type="http://schemas.openxmlformats.org/officeDocument/2006/relationships/notesMaster" Target="/ppt/notesMasters/notesMaster1.xml" Id="R9fbc7db9135f46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62812738f846a4" /><Relationship Type="http://schemas.openxmlformats.org/officeDocument/2006/relationships/notesMaster" Target="/ppt/notesMasters/notesMaster1.xml" Id="Re35db604af974f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9eb761a2e26432f" /><Relationship Type="http://schemas.openxmlformats.org/officeDocument/2006/relationships/notesMaster" Target="/ppt/notesMasters/notesMaster1.xml" Id="Rd6f5ffc697f942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af4e2c4a284fc4" /><Relationship Type="http://schemas.openxmlformats.org/officeDocument/2006/relationships/notesMaster" Target="/ppt/notesMasters/notesMaster1.xml" Id="R6d8a8e7cbfea49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4bc830dfd347e0" /><Relationship Type="http://schemas.openxmlformats.org/officeDocument/2006/relationships/notesMaster" Target="/ppt/notesMasters/notesMaster1.xml" Id="R37f62d07ca2d4f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5f22737fba4fff" /><Relationship Type="http://schemas.openxmlformats.org/officeDocument/2006/relationships/notesMaster" Target="/ppt/notesMasters/notesMaster1.xml" Id="R29b682b2a8484e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Apresente o objetivo em uma frase: combinar adaptação de largura do AdaCon com adaptação de profundidade por saída antecipada.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20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Neseem e Reda (2021); Teerapittayanon et al. (2016)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Apresente a sequência da apresentação. Os gráficos complementares ficam ao fim do arquivo.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25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Diferencie classificação de detecção: precisamos da classe e da localização. A motivação é evitar o mesmo custo para imagens com dificuldades diferentes.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https://arxiv.org/abs/1405.0312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cabeça intermediária gera detecções. O gate resume a confiança e compara esse score ao limiar τ calibrado.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https://arxiv.org/abs/1709.01686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Apresente origem, tamanho e formato. O projeto usa 80 categorias, 113.287 imagens de treino, 5.000 de calibração e 5.000 de validação.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https://cocodataset.org/dataset/detection-2017.htm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 Branch Controller seleciona os especialistas adequados à cena. A decisão pode ativar vários ramos quando há objetos de contextos diferentes.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60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https://arxiv.org/abs/2108.06850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2B, 3B e 4B são configurações de agrupamento de classes. Elas não correspondem a categorias humanas fixas, mas a clusters criados por coocorrência.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Primeiro treinamos os componentes. Depois, na calibração, escolhemos a quantidade de ramos, a camada, o modo e o limiar. O conjunto val2017 fica reservado para o resultado final.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palavras simples: escolhemos quantos ramos usar, em qual camada sair, como resumir a confiança e qual limiar aceitar. Depois medimos qualidade e custo.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COCO AP é a métrica principal de qualidade. Ela exige a classe correta e mede a sobreposição entre caixa prevista e anotação em vários limiares de IoU, de 0,50 a 0,95. GMAC mede o custo computacional por imagem na rota efetivamente executada; por isso selecionamos o menor GMAC com perda de COCO AP de até 0,010 na calibração.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45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Lin et al. (2014); COCOeval; protocolo experimental local.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Este é o resultado de referência do AdaCon antes de adicionar saída antecipada. A configuração 2B apresenta o maior COCO AP e a maior relação AP/GMAC entre as configurações-base; por isso foi usada como referência para os testes com saída antecipada. A imagem à direita é apenas ilustrativa.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35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 dos resultados: avaliação local no COCO val2017.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 tabela não traz época de treino porque a comparação usa os checkpoints de avaliação registrados. A 55 é a escolha de custo-benefício e a 61 entrega a maior qualidade.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60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critério resume a confiança das detecções de uma forma diferente. A tabela mostra o melhor ponto de cada método na calibração 2B, camada 61, respeitando perda absoluta de COCO AP de até 0,010. O Percentil Inferior não teve ponto elegível nessa regra.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experimentos/gates_camadas_early_exit_2b/metodos/camada_61/avaliacao_grade_uniforme_005/resumo.json.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Mostre que todos os limiares avaliados foram mantidos na tabela para tornar a escolha rastreável. À medida que τ aumenta, o COCO AP aumenta, mas o GMAC também aumenta. O limiar 0,40 tem a maior razão AP/GMAC entre os pontos testados, além de preservar 97,24% do AP de referência.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45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calibração local, Média Ponderada, 2B, camada 61.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Agora a comparação deixa explícito o modo usado: Média Ponderada. Todas as variantes preservam cerca de 97,7% do AP, com redução entre 3,04% e 4,48% do GMAC.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60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Declare o critério antes de chamar uma configuração de campeã. Para a apresentação, a prioridade é preservar qualidade com redução mensurável de custo.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55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Este recorte mostra que uma cena aceita pela saída antecipada pode conter classes difíceis. Para 2B, 700 das 5.000 imagens saíram cedo. Apresente as taxas como associação de classe à cena aceita, não como relação causal.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45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resultados/analises/classes_imagens_early_exit/RELATORIO.md; COCO val2017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o AdaCon 2B sem saída antecipada com a configuração selecionada: camada 61, Média Ponderada e limiar τ = 0,40. A economia é de 3,04% em GMAC, enquanto o AP final preserva 97,83% do valor de referência.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35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resultados consolidados no slide “Early Exit com Média Ponderada”.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Feche a apresentação principal pela coluna de conclusões. Na coluna da direita, indique os próximos passos mensuráveis sem alongar a fala.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25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Este recorte mostra que uma cena aceita pela saída antecipada pode conter classes difíceis. Para 2B, 700 das 5.000 imagens saíram cedo. Apresente as taxas como associação de classe à cena aceita, não como relação causal.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 estimado: 45 s.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Fontes: resultados/analises/classes_imagens_early_exit/RELATORIO.md; COCO val2017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f2f4a97164799" /><Relationship Type="http://schemas.openxmlformats.org/officeDocument/2006/relationships/image" Target="/ppt/media/image.png" Id="R31e9e13c6bab47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b154fffaf4cc5" /><Relationship Type="http://schemas.openxmlformats.org/officeDocument/2006/relationships/image" Target="/ppt/media/image.png" Id="R0e9d00f45be04b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6e965a3144c8c" /><Relationship Type="http://schemas.openxmlformats.org/officeDocument/2006/relationships/image" Target="/ppt/media/image.png" Id="Rb550ca143deb47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d7134c415453e" /><Relationship Type="http://schemas.openxmlformats.org/officeDocument/2006/relationships/image" Target="/ppt/media/image2.png" Id="R80f155e333b74605" /><Relationship Type="http://schemas.openxmlformats.org/officeDocument/2006/relationships/image" Target="/ppt/media/image3.png" Id="R68129ee9d54043c2" /><Relationship Type="http://schemas.openxmlformats.org/officeDocument/2006/relationships/image" Target="/ppt/media/image.jpeg" Id="Ra5e11de0147644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830b58c4c4deb" /><Relationship Type="http://schemas.openxmlformats.org/officeDocument/2006/relationships/image" Target="/ppt/media/image2.png" Id="Rf2a2417502414f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8b60452ee49bb" /><Relationship Type="http://schemas.openxmlformats.org/officeDocument/2006/relationships/image" Target="/ppt/media/image.png" Id="R85206fdd21354e6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1fd7f11794ff9" /><Relationship Type="http://schemas.openxmlformats.org/officeDocument/2006/relationships/image" Target="/ppt/media/image.png" Id="R641404668a8747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a5cc90e024764" /><Relationship Type="http://schemas.openxmlformats.org/officeDocument/2006/relationships/image" Target="/ppt/media/image.png" Id="R45fd7b59d62442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04d25103545e4" /><Relationship Type="http://schemas.openxmlformats.org/officeDocument/2006/relationships/image" Target="/ppt/media/image.png" Id="Rb45bebdc258d4215" /></Relationships>
</file>

<file path=ppt/slideLayouts/slideLayout1.xml><?xml version="1.0" encoding="utf-8"?>
<p:sldLayout xmlns:p="http://schemas.openxmlformats.org/presentationml/2006/main" type="blank" preserve="1">
  <p:cSld name="TITLE_AND_TWO_COLUMNS_1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ACD2BDA-4AA9-4EC5-9926-6B6C6E2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2DDBC71A-7EC7-4BD6-A8CC-E5697BCD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1EF0B3D-E322-4938-90ED-77A476616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20" y="296280"/>
            <a:ext cx="8519400" cy="64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3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802606D-6CFA-45E2-8617-D1DA92E64FE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4600" y="1001520"/>
            <a:ext cx="3603960" cy="62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1676BE2-2BB6-4175-8949-CEF40416B439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53640" y="1001520"/>
            <a:ext cx="3695400" cy="50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56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9e13c6bab4768"/>
          <a:stretch xmlns:a="http://schemas.openxmlformats.org/drawingml/2006/main"/>
        </p:blipFill>
        <p:spPr>
          <a:xfrm xmlns:a="http://schemas.openxmlformats.org/drawingml/2006/main">
            <a:off x="851868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B7D46A70-0909-4418-8E7C-C741DA7DA468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6A206A-8A53-4EBA-B855-222323BD9733}" type="slidenum">
              <a: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_1_1">
    <p:bg>
      <p:bgPr>
        <a:solidFill xmlns:a="http://schemas.openxmlformats.org/drawingml/2006/main">
          <a:srgbClr val="59979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700AD59-2FCE-4CF6-96A0-21F51014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D71DFD07-F666-40A0-A2F1-A5F6B35F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427172F-6D59-43C7-BFC4-897ADC4FB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3040" y="1200240"/>
            <a:ext cx="6665040" cy="14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4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4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4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d00f45be04b24"/>
          <a:stretch xmlns:a="http://schemas.openxmlformats.org/drawingml/2006/main"/>
        </p:blipFill>
        <p:spPr>
          <a:xfrm xmlns:a="http://schemas.openxmlformats.org/drawingml/2006/main">
            <a:off x="851868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698A8DE-2E52-4EDF-B44A-7330A1D7675E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lt1"/>
                </a:solidFill>
                <a:latin typeface="Rockwell"/>
                <a:ea typeface="Rockwell"/>
                <a:cs typeface="Rockwell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ED2266-6C4E-4D02-AD7A-65AD28D3B8CF}" type="slidenum">
              <a:rPr sz="1300" b="0" u="none">
                <a:solidFill>
                  <a:schemeClr val="lt1"/>
                </a:solidFill>
                <a:latin typeface="Rockwell"/>
                <a:ea typeface="Rockwell"/>
                <a:cs typeface="Rockwell"/>
              </a:rPr>
              <a:t>&lt;número&gt;</a:t>
            </a:fld>
            <a:endParaRPr sz="1300" b="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3C43C95E-658D-409D-B21B-397EEEAC22D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203480"/>
            <a:ext cx="8228520" cy="29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TITLE_AND_TWO_COLUMNS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F49B205-AFD3-464D-8593-369620D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E127BD2-B5ED-41D5-8655-1DA17D5D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0816090-5B40-4A26-84EC-D38ADED83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20" y="296280"/>
            <a:ext cx="8519400" cy="64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3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4BC6B28-D867-40D1-BB8C-DF1F8573BC1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4600" y="1395000"/>
            <a:ext cx="7074000" cy="232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41880A5-4BDC-49D8-AB6E-EE7DDFDB6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4600" y="1001520"/>
            <a:ext cx="5067000" cy="47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19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8" name="Google Shape;19;p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0ca143deb47bd"/>
          <a:stretch xmlns:a="http://schemas.openxmlformats.org/drawingml/2006/main"/>
        </p:blipFill>
        <p:spPr>
          <a:xfrm xmlns:a="http://schemas.openxmlformats.org/drawingml/2006/main">
            <a:off x="851868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0FF5371-233B-4385-BAED-4A4CFE003EC1}"/>
              </a:ext>
            </a:extLst>
          </p:cNvPr>
          <p:cNvSpPr>
            <a:spLocks xmlns:a="http://schemas.openxmlformats.org/drawingml/2006/main" noGrp="1"/>
          </p:cNvSpPr>
          <p:nvPr>
            <p:ph type="sldNum" idx="3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E6B3C1-5E29-45E1-BF24-C5F4DD20232D}" type="slidenum">
              <a: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CUSTOM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CCB8B78-6763-429D-BD3F-6852D3A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8DA93E5-9C75-4EA9-8E5D-0834A0E2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5" name="Google Shape;5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155e333b74605"/>
          <a:stretch xmlns:a="http://schemas.openxmlformats.org/drawingml/2006/main"/>
        </p:blipFill>
        <p:spPr>
          <a:xfrm xmlns:a="http://schemas.openxmlformats.org/drawingml/2006/main">
            <a:off x="521280" y="313200"/>
            <a:ext cx="2014920" cy="5817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36" name="Google Shape;6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29ee9d54043c2"/>
          <a:srcRect xmlns:a="http://schemas.openxmlformats.org/drawingml/2006/main" l="14754" t="29507" r="14760" b="29507"/>
          <a:stretch xmlns:a="http://schemas.openxmlformats.org/drawingml/2006/main"/>
        </p:blipFill>
        <p:spPr>
          <a:xfrm xmlns:a="http://schemas.openxmlformats.org/drawingml/2006/main">
            <a:off x="7439040" y="290880"/>
            <a:ext cx="1236960" cy="506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37" name="Google Shape;61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11de01476442c"/>
          <a:stretch xmlns:a="http://schemas.openxmlformats.org/drawingml/2006/main"/>
        </p:blipFill>
        <p:spPr>
          <a:xfrm xmlns:a="http://schemas.openxmlformats.org/drawingml/2006/main">
            <a:off x="7602840" y="874080"/>
            <a:ext cx="995040" cy="4359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09F322C-4D28-4F57-8AE9-DFAB28ABAA5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753961-CCEF-4B45-A655-A82D133814B8}" type="slidenum">
              <a:rPr sz="1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EDAE3151-5998-488D-B4B3-EFB1D51F6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200"/>
            <a:ext cx="8228520" cy="85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FE29154-7F86-4F5A-BC15-A19BD3F2178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7200" y="1203480"/>
            <a:ext cx="8228520" cy="298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4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CUSTOM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11FC639-BF90-4FCF-986B-492A3ED0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5C1AE22-2B9B-4E9F-8E40-C05BA12D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Google Shape;64;p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2417502414f32"/>
          <a:stretch xmlns:a="http://schemas.openxmlformats.org/drawingml/2006/main"/>
        </p:blipFill>
        <p:spPr>
          <a:xfrm xmlns:a="http://schemas.openxmlformats.org/drawingml/2006/main">
            <a:off x="3056400" y="2032920"/>
            <a:ext cx="3030480" cy="875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415F154-A8DF-4923-AA55-3CC77301F18F}"/>
              </a:ext>
            </a:extLst>
          </p:cNvPr>
          <p:cNvSpPr>
            <a:spLocks xmlns:a="http://schemas.openxmlformats.org/drawingml/2006/main" noGrp="1"/>
          </p:cNvSpPr>
          <p:nvPr>
            <p:ph type="sldNum" idx="5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F7135D-1F6F-4F9B-BCC3-6A428B6065DB}" type="slidenum">
              <a:rPr sz="1300" b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TITLE_AND_TWO_COLUMNS_1_2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421D19B-D394-476C-A415-FA1C2C8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5AAD11A-724C-4569-9980-145AB756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65FD0F-A58C-4800-A543-57267BB5C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20" y="296280"/>
            <a:ext cx="8519400" cy="64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3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BAD50E5-AABB-4C99-9A17-9780E934AFD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4600" y="1001520"/>
            <a:ext cx="2881800" cy="1377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Google Shape;48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06fdd21354e64"/>
          <a:stretch xmlns:a="http://schemas.openxmlformats.org/drawingml/2006/main"/>
        </p:blipFill>
        <p:spPr>
          <a:xfrm xmlns:a="http://schemas.openxmlformats.org/drawingml/2006/main">
            <a:off x="345132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0ABE27F-F1EF-4EA2-8B06-ACE06D97EC49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0A6C52-61B8-4A75-908D-5C82971C7445}" type="slidenum">
              <a: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ITLE_AND_TWO_COLUMNS_1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08D3678-C249-4E43-8BCF-1DA351E3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340D62C-A226-44DD-BFC3-12174AF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EF017F5-CB95-4C94-8D34-28D541F71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20" y="296280"/>
            <a:ext cx="8519400" cy="64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3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D275309-C768-46A5-9E2C-5E43BA1C3A1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4600" y="1395000"/>
            <a:ext cx="3603960" cy="62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B2B1405-613F-4703-A58E-4DD7CB79AD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4600" y="1001520"/>
            <a:ext cx="5067000" cy="47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19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755A3FF-301E-4738-B70A-4794FA28D1B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4553640" y="1395000"/>
            <a:ext cx="3695400" cy="500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5" name="Google Shape;35;p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404668a87471b"/>
          <a:stretch xmlns:a="http://schemas.openxmlformats.org/drawingml/2006/main"/>
        </p:blipFill>
        <p:spPr>
          <a:xfrm xmlns:a="http://schemas.openxmlformats.org/drawingml/2006/main">
            <a:off x="851868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CC9AC40-DF55-47FF-8EB5-37FEE9F6A9C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8DA8B3-6C12-4CCE-9960-AA2A8A2B93FA}" type="slidenum">
              <a: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TITLE_AND_TWO_COLUMNS_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C1389112-094E-4707-AE84-EC01501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9E3A6D05-5C4A-418F-98FD-FDBD693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D02B61D-CA21-4A2C-A064-4A1523C66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20" y="296280"/>
            <a:ext cx="8519400" cy="64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3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4456075-25D4-4F1F-A7FB-67AAFF2C4E3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4600" y="1001520"/>
            <a:ext cx="7074000" cy="232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9" name="Google Shape;26;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d7b59d6244271"/>
          <a:stretch xmlns:a="http://schemas.openxmlformats.org/drawingml/2006/main"/>
        </p:blipFill>
        <p:spPr>
          <a:xfrm xmlns:a="http://schemas.openxmlformats.org/drawingml/2006/main">
            <a:off x="851868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F8BEB5B-7C9A-44C5-88B5-A2A7D64F5507}"/>
              </a:ext>
            </a:extLst>
          </p:cNvPr>
          <p:cNvSpPr>
            <a:spLocks xmlns:a="http://schemas.openxmlformats.org/drawingml/2006/main" noGrp="1"/>
          </p:cNvSpPr>
          <p:nvPr>
            <p:ph type="sldNum" idx="8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962071-D17F-4668-96B8-BA048DBC9C35}" type="slidenum">
              <a: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TITLE_AND_TWO_COLUMNS_1_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780F7B6-8244-46E0-B176-D4E1874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00" y="288000"/>
            <a:ext cx="5855760" cy="55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B6587D9-D8EB-4ECF-AE0A-FC8F444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0" y="1014840"/>
            <a:ext cx="445680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91440" rIns="90000" bIns="9144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DDB291D-7DBF-4479-9B81-1D31553DA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9720" y="296280"/>
            <a:ext cx="8519400" cy="64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ctr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30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3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F058E82-6AF4-4D44-9BFC-28A2A7C07FA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4600" y="1395000"/>
            <a:ext cx="2881800" cy="1377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</a:lstStyle>
          <a:p xmlns:a="http://schemas.openxmlformats.org/drawingml/2006/main">
            <a:pPr marL="457200" indent="-33012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lvl="1" indent="-33012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371600" lvl="2" indent="-33012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7.º nível de tópicos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6518742-C592-4C4B-B13F-E976BD267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4600" y="1001520"/>
            <a:ext cx="5067000" cy="47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spAutoFit/>
          </a:bodyPr>
          <a:lstStyle xmlns:a="http://schemas.openxmlformats.org/drawingml/2006/main">
            <a:lvl1pPr indent="0" algn="l">
              <a:lnSpc>
                <a:spcPct val="100000"/>
              </a:lnSpc>
              <a:buNone/>
              <a:tabLst>
                <a:tab pos="0" algn="l"/>
              </a:tabLst>
              <a:defRPr sz="1900" b="0" u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" name="Google Shape;42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bebdc258d4215"/>
          <a:stretch xmlns:a="http://schemas.openxmlformats.org/drawingml/2006/main"/>
        </p:blipFill>
        <p:spPr>
          <a:xfrm xmlns:a="http://schemas.openxmlformats.org/drawingml/2006/main">
            <a:off x="3451320" y="4591800"/>
            <a:ext cx="354600" cy="2354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822BA8A-1F34-4C6D-8A38-0402F3A715FA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492EA9-15DE-4E16-A4E6-41C54856ED23}" type="slidenum">
              <a:rPr sz="1300" b="0" u="none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&lt;número&gt;</a:t>
            </a:fld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5720cf8a24b31" /><Relationship Type="http://schemas.openxmlformats.org/officeDocument/2006/relationships/slideLayout" Target="/ppt/slideLayouts/slideLayout1.xml" Id="Rfa154084f5614665" /><Relationship Type="http://schemas.openxmlformats.org/officeDocument/2006/relationships/slideLayout" Target="/ppt/slideLayouts/slideLayout2.xml" Id="Re2e36bf5c7b94c9d" /><Relationship Type="http://schemas.openxmlformats.org/officeDocument/2006/relationships/slideLayout" Target="/ppt/slideLayouts/slideLayout3.xml" Id="R9938a5e61b8b4884" /><Relationship Type="http://schemas.openxmlformats.org/officeDocument/2006/relationships/slideLayout" Target="/ppt/slideLayouts/slideLayout4.xml" Id="R42ece7f870b64cbc" /><Relationship Type="http://schemas.openxmlformats.org/officeDocument/2006/relationships/slideLayout" Target="/ppt/slideLayouts/slideLayout5.xml" Id="Ra04add65580f475e" /><Relationship Type="http://schemas.openxmlformats.org/officeDocument/2006/relationships/slideLayout" Target="/ppt/slideLayouts/slideLayout6.xml" Id="R5dcd7d03167e4687" /><Relationship Type="http://schemas.openxmlformats.org/officeDocument/2006/relationships/slideLayout" Target="/ppt/slideLayouts/slideLayout7.xml" Id="R52b58188be1643bb" /><Relationship Type="http://schemas.openxmlformats.org/officeDocument/2006/relationships/slideLayout" Target="/ppt/slideLayouts/slideLayout8.xml" Id="Rb1b915ec3d9c47b2" /><Relationship Type="http://schemas.openxmlformats.org/officeDocument/2006/relationships/slideLayout" Target="/ppt/slideLayouts/slideLayout9.xml" Id="R35c41de49e0840e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54084f5614665"/>
    <p:sldLayoutId xmlns:r="http://schemas.openxmlformats.org/officeDocument/2006/relationships" id="2147483650" r:id="Re2e36bf5c7b94c9d"/>
    <p:sldLayoutId xmlns:r="http://schemas.openxmlformats.org/officeDocument/2006/relationships" id="2147483651" r:id="R9938a5e61b8b4884"/>
    <p:sldLayoutId xmlns:r="http://schemas.openxmlformats.org/officeDocument/2006/relationships" id="2147483652" r:id="R42ece7f870b64cbc"/>
    <p:sldLayoutId xmlns:r="http://schemas.openxmlformats.org/officeDocument/2006/relationships" id="2147483653" r:id="Ra04add65580f475e"/>
    <p:sldLayoutId xmlns:r="http://schemas.openxmlformats.org/officeDocument/2006/relationships" id="2147483654" r:id="R5dcd7d03167e4687"/>
    <p:sldLayoutId xmlns:r="http://schemas.openxmlformats.org/officeDocument/2006/relationships" id="2147483655" r:id="R52b58188be1643bb"/>
    <p:sldLayoutId xmlns:r="http://schemas.openxmlformats.org/officeDocument/2006/relationships" id="2147483656" r:id="Rb1b915ec3d9c47b2"/>
    <p:sldLayoutId xmlns:r="http://schemas.openxmlformats.org/officeDocument/2006/relationships" id="2147483657" r:id="R35c41de49e0840e3"/>
  </p:sldLayoutIdLst>
</p:sldMaster>
</file>

<file path=ppt/slideMasters/theme/theme2.xml><?xml version="1.0" encoding="utf-8"?>
<a:theme xmlns:a="http://schemas.openxmlformats.org/drawingml/2006/main" name="GT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5997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9a942acf1b74af1" /><Relationship Type="http://schemas.openxmlformats.org/officeDocument/2006/relationships/notesSlide" Target="/ppt/notesSlides/notesSlide1.xml" Id="R73ae3ce823894a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2891348ef14bcf" /><Relationship Type="http://schemas.openxmlformats.org/officeDocument/2006/relationships/notesSlide" Target="/ppt/notesSlides/notesSlide2.xml" Id="Re492ede5a51b4e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d9ad2827154743" /><Relationship Type="http://schemas.openxmlformats.org/officeDocument/2006/relationships/image" Target="/ppt/media/image2.jpeg" Id="Rb2bed9e4b57a49ad" /><Relationship Type="http://schemas.openxmlformats.org/officeDocument/2006/relationships/notesSlide" Target="/ppt/notesSlides/notesSlide3.xml" Id="R98cac0c1ae8b4e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fa569fad394bb3" /><Relationship Type="http://schemas.openxmlformats.org/officeDocument/2006/relationships/notesSlide" Target="/ppt/notesSlides/notesSlide4.xml" Id="R321016db2b514d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00ef0c4af4f21" /><Relationship Type="http://schemas.openxmlformats.org/officeDocument/2006/relationships/image" Target="/ppt/media/image3.jpeg" Id="R24314694aff64c28" /><Relationship Type="http://schemas.openxmlformats.org/officeDocument/2006/relationships/image" Target="/ppt/media/image4.jpeg" Id="R994fa00b37f14c2d" /><Relationship Type="http://schemas.openxmlformats.org/officeDocument/2006/relationships/image" Target="/ppt/media/image2.jpeg" Id="R9ec511f670c14aa8" /><Relationship Type="http://schemas.openxmlformats.org/officeDocument/2006/relationships/image" Target="/ppt/media/image5.jpeg" Id="Rab2de741013646d3" /><Relationship Type="http://schemas.openxmlformats.org/officeDocument/2006/relationships/notesSlide" Target="/ppt/notesSlides/notesSlide5.xml" Id="Rcb3a122b0c23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29024dcc304f47" /><Relationship Type="http://schemas.openxmlformats.org/officeDocument/2006/relationships/notesSlide" Target="/ppt/notesSlides/notesSlide6.xml" Id="Rbb02208209ba44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3508ee14f44802" /><Relationship Type="http://schemas.openxmlformats.org/officeDocument/2006/relationships/notesSlide" Target="/ppt/notesSlides/notesSlide7.xml" Id="Rbd45fb686ae94f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4c83324034752" /><Relationship Type="http://schemas.openxmlformats.org/officeDocument/2006/relationships/notesSlide" Target="/ppt/notesSlides/notesSlide8.xml" Id="R93cf5d7543a14a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f4445f97c54052" /><Relationship Type="http://schemas.openxmlformats.org/officeDocument/2006/relationships/notesSlide" Target="/ppt/notesSlides/notesSlide9.xml" Id="R94137a50592c4f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f6d45eaa54cb8" /><Relationship Type="http://schemas.openxmlformats.org/officeDocument/2006/relationships/image" Target="/ppt/media/image4.png" Id="Rb06e374a72c44337" /><Relationship Type="http://schemas.openxmlformats.org/officeDocument/2006/relationships/notesSlide" Target="/ppt/notesSlides/notesSlide10.xml" Id="R766a965813df4f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dafe0a8a104e86" /><Relationship Type="http://schemas.openxmlformats.org/officeDocument/2006/relationships/notesSlide" Target="/ppt/notesSlides/notesSlide11.xml" Id="R43cfec022a734c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6eaefb834480c" /><Relationship Type="http://schemas.openxmlformats.org/officeDocument/2006/relationships/notesSlide" Target="/ppt/notesSlides/notesSlide12.xml" Id="R37ccb808aa6b4f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6c0c72da15444d" /><Relationship Type="http://schemas.openxmlformats.org/officeDocument/2006/relationships/notesSlide" Target="/ppt/notesSlides/notesSlide13.xml" Id="R3b2dfa8b47af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93ecf869ac4775" /><Relationship Type="http://schemas.openxmlformats.org/officeDocument/2006/relationships/notesSlide" Target="/ppt/notesSlides/notesSlide14.xml" Id="Rdb5e228888b340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ef5b489a14d6e" /><Relationship Type="http://schemas.openxmlformats.org/officeDocument/2006/relationships/notesSlide" Target="/ppt/notesSlides/notesSlide15.xml" Id="Rd7b3876f4b934a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1a330de1d743c7" /><Relationship Type="http://schemas.openxmlformats.org/officeDocument/2006/relationships/notesSlide" Target="/ppt/notesSlides/notesSlide16.xml" Id="R816e9a1f7e644a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3c48328044b53" /><Relationship Type="http://schemas.openxmlformats.org/officeDocument/2006/relationships/notesSlide" Target="/ppt/notesSlides/notesSlide17.xml" Id="R0c68e19779e24f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8dc88a8c704f80" /><Relationship Type="http://schemas.openxmlformats.org/officeDocument/2006/relationships/notesSlide" Target="/ppt/notesSlides/notesSlide18.xml" Id="R1da577b9f4b64c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269eb5f5fa477f" /><Relationship Type="http://schemas.openxmlformats.org/officeDocument/2006/relationships/notesSlide" Target="/ppt/notesSlides/notesSlide19.xml" Id="R1cc76e1b817744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35881cb314cd9" /><Relationship Type="http://schemas.openxmlformats.org/officeDocument/2006/relationships/notesSlide" Target="/ppt/notesSlides/notesSlide20.xml" Id="Reba40acf5aff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36DD1F02-618B-4605-85E1-DB2AB3A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360" y="4181760"/>
            <a:ext cx="4184640" cy="64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999999"/>
                </a:solidFill>
                <a:latin typeface="Arial Narrow"/>
                <a:ea typeface="Arial Narrow"/>
                <a:cs typeface="Arial Narrow"/>
              </a:rPr>
              <a:t>Poli – Depto. de Eng. Eletrônica e de Computação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999999"/>
                </a:solidFill>
                <a:latin typeface="Arial Narrow"/>
                <a:ea typeface="Arial Narrow"/>
                <a:cs typeface="Arial Narrow"/>
              </a:rPr>
              <a:t>COPPE – Programa de Engenharia Elétrica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999999"/>
                </a:solidFill>
                <a:latin typeface="Arial Narrow"/>
                <a:ea typeface="Arial Narrow"/>
                <a:cs typeface="Arial Narrow"/>
              </a:rPr>
              <a:t>Universidade Federal do Rio de Janeiro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94EFF584-DCF9-4C00-8F9E-07B9F03B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20" y="868680"/>
            <a:ext cx="6264360" cy="331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2500" b="1" u="none">
                <a:solidFill>
                  <a:srgbClr val="000000"/>
                </a:solidFill>
                <a:latin typeface="Rockwell"/>
                <a:ea typeface="Rockwell"/>
                <a:cs typeface="Rockwell"/>
              </a:rPr>
              <a:t>INTEGRAÇÃO DE SAÍDAS ANTECIPADAS EM RAMOS ESPECIALIZADOS POR CONTEXTO PARA DETECÇÃO DE OBJETOS</a:t>
            </a:r>
            <a:endParaRPr sz="2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5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Pedro Cintra Silveira, Miguel Elias M. Campista e Daniel Sadoc Menasche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047E8678-F0ED-4802-B3A4-F208DE28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20" y="4550760"/>
            <a:ext cx="5008680" cy="27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999999"/>
                </a:solidFill>
                <a:latin typeface="Arial Narrow"/>
                <a:ea typeface="Arial Narrow"/>
                <a:cs typeface="Arial Narrow"/>
              </a:rPr>
              <a:t>Realizado com recursos do CNPq, CAPES, FAPERJ e FAPESP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CEE8A88-21F4-4B80-B8C2-0EFB487EC2C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>
          <a:xfrm xmlns:a="http://schemas.openxmlformats.org/drawingml/2006/main">
            <a:off x="8556840" y="4749840"/>
            <a:ext cx="547560" cy="3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91440" rIns="91440" bIns="91440" anchor="t">
            <a:noAutofit/>
          </a:bodyPr>
          <a:lstStyle xmlns:a="http://schemas.openxmlformats.org/drawingml/2006/main"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3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r>
            <a:endParaRPr sz="13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8909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09092E-880B-4F8E-B3FE-9E717840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Roteiro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9D1D42-AB38-44BC-9DB7-DB41D885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617FE8-5B18-4F7E-A724-6E358638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1162080"/>
            <a:ext cx="2475360" cy="78012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979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DEEE7E-D2C4-418B-BB28-EA28F5F2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" y="1238400"/>
            <a:ext cx="2323080" cy="37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599794"/>
                </a:solidFill>
                <a:latin typeface="Arial Narrow"/>
                <a:ea typeface="Arial Narrow"/>
                <a:cs typeface="Arial Narrow"/>
              </a:rPr>
              <a:t>1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D759ACD-6B82-4AD4-B1DD-80A09E6F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" y="1583640"/>
            <a:ext cx="2323080" cy="24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Motivação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FDCE93-858A-4606-B6EB-A4E4ECD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1162080"/>
            <a:ext cx="2475360" cy="78012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979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849DBB-83DB-4110-8FB5-E84EB22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440" y="1238400"/>
            <a:ext cx="2323080" cy="37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599794"/>
                </a:solidFill>
                <a:latin typeface="Arial Narrow"/>
                <a:ea typeface="Arial Narrow"/>
                <a:cs typeface="Arial Narrow"/>
              </a:rPr>
              <a:t>2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87D115-39D6-46E5-A2D0-B9ED10C8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440" y="1583640"/>
            <a:ext cx="2323080" cy="24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Saídas antecipadas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D0E02D-1F4F-48D8-94AC-B4BBD935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1162080"/>
            <a:ext cx="2475360" cy="78012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1395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584035D-434E-4AFE-A5B8-2CEADDAC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120" y="1238400"/>
            <a:ext cx="2323080" cy="37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3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B0DD67-23DF-4C16-A28E-EC72ED64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120" y="1583640"/>
            <a:ext cx="2323080" cy="24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Materiais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38EB53-C458-43F1-964D-B4D7E8A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00" y="2305080"/>
            <a:ext cx="2475360" cy="78012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1395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F19975A-9B94-48CB-A91C-231F9D86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" y="2381400"/>
            <a:ext cx="2323080" cy="37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4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211EF88-56C9-4117-B249-74E69AE7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" y="2726640"/>
            <a:ext cx="2323080" cy="24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Arquiteturas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CD41833-2A48-4F22-9B33-23D1CDDF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305080"/>
            <a:ext cx="2475360" cy="78012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9F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156294-2F1C-4FC5-85E8-D7CCB503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440" y="2381400"/>
            <a:ext cx="2323080" cy="37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E69F55"/>
                </a:solidFill>
                <a:latin typeface="Arial Narrow"/>
                <a:ea typeface="Arial Narrow"/>
                <a:cs typeface="Arial Narrow"/>
              </a:rPr>
              <a:t>5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9696987-4D81-4C32-9632-95CD47B8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440" y="2726640"/>
            <a:ext cx="2323080" cy="24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Metodologia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781F8B4-C027-4531-8FA3-A9354304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0" y="2305080"/>
            <a:ext cx="2475360" cy="78012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9F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14DA6D-9F27-4BB2-A024-CC27E031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120" y="2381400"/>
            <a:ext cx="2323080" cy="373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85000"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E69F55"/>
                </a:solidFill>
                <a:latin typeface="Arial Narrow"/>
                <a:ea typeface="Arial Narrow"/>
                <a:cs typeface="Arial Narrow"/>
              </a:rPr>
              <a:t>6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6C58812-A7D7-49EC-B02F-F080CB8F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120" y="2726640"/>
            <a:ext cx="2323080" cy="24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Resultados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292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75E3A3-21BD-4F30-B01F-8E7E38A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Motivação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6D8507A-EF91-468E-A3E9-DB4BF94E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Detecção de objetos em ambientes reais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74E3A9-1144-4DF2-95CD-2116CFF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ed9e4b57a49ad"/>
          <a:srcRect xmlns:a="http://schemas.openxmlformats.org/drawingml/2006/main" l="8673" t="0" r="8673" b="0"/>
          <a:stretch xmlns:a="http://schemas.openxmlformats.org/drawingml/2006/main"/>
        </p:blipFill>
        <p:spPr>
          <a:xfrm xmlns:a="http://schemas.openxmlformats.org/drawingml/2006/main">
            <a:off x="5095800" y="1066680"/>
            <a:ext cx="3285000" cy="29991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FF25A6-3736-42F6-A3BF-B32C3392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1440000"/>
            <a:ext cx="3856680" cy="216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Problema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Cada imagem pode conter vários objetos, escalas e oclusões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Restrição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Latência, energia e memória limitam sistemas embarcados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Hipótese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Imagens simples podem exigir menos processamento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AD9D95-4D31-46DB-8CD1-F7EB616F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616560"/>
            <a:ext cx="3713760" cy="52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A mesma tarefa de detecção não exige o mesmo custo em todas as cenas.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02ACD2-3945-4667-9FD3-82DDDCD8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000" y="4124160"/>
            <a:ext cx="3340800" cy="37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999999"/>
                </a:solidFill>
                <a:latin typeface="Arial Narrow"/>
                <a:ea typeface="Arial Narrow"/>
                <a:cs typeface="Arial Narrow"/>
              </a:rPr>
              <a:t>              Fonte: Microsoft COCO, Lin et al. (2014)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8178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3EF567-0EA7-47B0-9FB4-C65053DC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Saídas Antecipadas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395DCE-9A71-487C-9A40-A92D49E6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762359-9A18-421D-9FF5-6355802A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401840"/>
            <a:ext cx="646560" cy="8370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7BC6C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2B49199-2D24-44F5-9176-CBC25FE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668600"/>
            <a:ext cx="64656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C1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20CDFE-A243-4B3E-8A14-5A96FC8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80" y="1706760"/>
            <a:ext cx="36072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0F456C-9867-45D4-BDCC-E00DCFD1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920" y="1401840"/>
            <a:ext cx="646560" cy="8370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7BC6C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577676-0728-4E60-87E6-1B3D85B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920" y="1668600"/>
            <a:ext cx="64656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C2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081DD46-3799-4726-A2D1-D4E46AB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0" y="1706760"/>
            <a:ext cx="36072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602D5D-0D54-4078-B269-9B1406F1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840" y="1401840"/>
            <a:ext cx="646560" cy="8370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7BC6C2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ADE4F35-3424-47A5-9D71-B5D967D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840" y="1668600"/>
            <a:ext cx="64656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C3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86227F-0BBC-42C7-9BEE-76081D37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280" y="1706760"/>
            <a:ext cx="36072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D6AFB3-D6A6-4334-A549-5C6E01C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760" y="1401840"/>
            <a:ext cx="646560" cy="8370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EB63FED-C0B8-444E-AB07-42F605A3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760" y="1668600"/>
            <a:ext cx="64656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C4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EFD2609-9394-4411-8091-87AC585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200" y="1706760"/>
            <a:ext cx="36072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6F8544D-9A00-4C77-BE7D-B15B54D3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680" y="1401840"/>
            <a:ext cx="646560" cy="8370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E87A495-E98F-4E68-9AC0-BE9D36A2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680" y="1668600"/>
            <a:ext cx="64656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43A1B8-E648-47D8-8B5A-450B6513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20" y="1706760"/>
            <a:ext cx="36072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4CF99D1-447A-4713-B0FF-60A70153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00" y="1401840"/>
            <a:ext cx="646560" cy="8370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B107D44-1336-4553-9459-F35285F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00" y="1668600"/>
            <a:ext cx="64656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C6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3BC0F42-AD39-44CD-B0B9-89EFFD58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80" y="2478240"/>
            <a:ext cx="2094480" cy="49428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51395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D36780-FFD3-4B72-8D85-582EA337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3240" y="2516400"/>
            <a:ext cx="1942200" cy="417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Saída Antecipada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7823B4D-C18A-43E3-B5ED-D9D1D50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060000"/>
            <a:ext cx="7237800" cy="118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Predição parcial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Imagens são inferidas antes do fim da rede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Cálculo da confiança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Decisão pelo limiar τ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Confiança ≥ τ: aceita a saída; confiança &lt; τ: continua até a saída final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3" name=""/>
          <p:cNvCxnSpPr>
            <a:stCxn xmlns:a="http://schemas.openxmlformats.org/drawingml/2006/main" id="106" idx="2"/>
            <a:endCxn xmlns:a="http://schemas.openxmlformats.org/drawingml/2006/main" id="117" idx="1"/>
          </p:cNvCxnSpPr>
          <p:nvPr/>
        </p:nvCxnSpPr>
        <p:spPr>
          <a:xfrm xmlns:a="http://schemas.openxmlformats.org/drawingml/2006/main" rot="16200000" flipH="1">
            <a:off x="3795840" y="1734120"/>
            <a:ext cx="487080" cy="1496520"/>
          </a:xfrm>
          <a:prstGeom xmlns:a="http://schemas.openxmlformats.org/drawingml/2006/main" prst="curvedConnector2">
            <a:avLst/>
          </a:prstGeom>
          <a:ln xmlns:a="http://schemas.openxmlformats.org/drawingml/2006/main" w="38160">
            <a:solidFill>
              <a:srgbClr val="51395E"/>
            </a:solidFill>
            <a:rou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92787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AAE6F2-2294-4518-9196-92FE751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Materiais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1AAACD1-4BE6-43CC-9BAB-9C6E2E26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Dataset COCO 2017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48945C-44DF-4A53-B541-E2FBCED6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3E0C347-C350-453A-A460-B65D49C0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440000"/>
            <a:ext cx="3427920" cy="323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Origem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Microsoft COCO, base pública de detecção de objetos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Categorias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80 classes de diferentes tipos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Imagens separadas em: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Treino (113.287 imagens)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Calibração (5.000 imagens)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Validação (5.000 imagens)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Entrada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416 × 416 pixels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14694aff64c28"/>
          <a:srcRect xmlns:a="http://schemas.openxmlformats.org/drawingml/2006/main" l="6896" t="0" r="6896" b="0"/>
          <a:stretch xmlns:a="http://schemas.openxmlformats.org/drawingml/2006/main"/>
        </p:blipFill>
        <p:spPr>
          <a:xfrm xmlns:a="http://schemas.openxmlformats.org/drawingml/2006/main">
            <a:off x="4191120" y="1047600"/>
            <a:ext cx="2046960" cy="1580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fa00b37f14c2d"/>
          <a:srcRect xmlns:a="http://schemas.openxmlformats.org/drawingml/2006/main" l="0" t="14651" r="0" b="14651"/>
          <a:stretch xmlns:a="http://schemas.openxmlformats.org/drawingml/2006/main"/>
        </p:blipFill>
        <p:spPr>
          <a:xfrm xmlns:a="http://schemas.openxmlformats.org/drawingml/2006/main">
            <a:off x="6334200" y="1047600"/>
            <a:ext cx="2046960" cy="1580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511f670c14aa8"/>
          <a:srcRect xmlns:a="http://schemas.openxmlformats.org/drawingml/2006/main" l="1126" t="0" r="1126" b="0"/>
          <a:stretch xmlns:a="http://schemas.openxmlformats.org/drawingml/2006/main"/>
        </p:blipFill>
        <p:spPr>
          <a:xfrm xmlns:a="http://schemas.openxmlformats.org/drawingml/2006/main">
            <a:off x="4191120" y="2724120"/>
            <a:ext cx="2046960" cy="1580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de741013646d3"/>
          <a:srcRect xmlns:a="http://schemas.openxmlformats.org/drawingml/2006/main" l="0" t="196" r="0" b="196"/>
          <a:stretch xmlns:a="http://schemas.openxmlformats.org/drawingml/2006/main"/>
        </p:blipFill>
        <p:spPr>
          <a:xfrm xmlns:a="http://schemas.openxmlformats.org/drawingml/2006/main">
            <a:off x="6334200" y="2724120"/>
            <a:ext cx="2046960" cy="15800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7CEC657-1E74-4B4E-B8B0-F67B25E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000" y="4352760"/>
            <a:ext cx="4241160" cy="32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999999"/>
                </a:solidFill>
                <a:latin typeface="Arial Narrow"/>
                <a:ea typeface="Arial Narrow"/>
                <a:cs typeface="Arial Narrow"/>
              </a:rPr>
              <a:t> Fonte: Microsoft COCO, Lin et al. (2014)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601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EB62E39-6694-45A1-9B96-1E075048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Arquiteturas de estudo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72A6619-5301-43BA-9535-026B4221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Arquitetura do AdaCon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DE8BD02-60F9-4B01-A27F-2EDAA845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9ED0D39-DF3D-4A56-848D-A11B0AB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00" y="1809720"/>
            <a:ext cx="1046520" cy="5227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59979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EDE4233-B343-4137-901F-452EE64C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20" y="1847880"/>
            <a:ext cx="894240" cy="4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Imagem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575D7B2-4E52-49B0-8311-E17CB396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800" y="1933560"/>
            <a:ext cx="398880" cy="2656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9196F37-0027-4356-989D-E61EB840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160" y="1619280"/>
            <a:ext cx="1570680" cy="8751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9979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7723294-24CA-4313-8EF9-9010453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80" y="1657440"/>
            <a:ext cx="1418040" cy="7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Backbone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compartilhada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7EADD7B-87C1-4E77-8BB4-BCF1C27E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840" y="1933560"/>
            <a:ext cx="398880" cy="2656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BE6427C-B4A1-4506-8441-025E46F6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200" y="1619280"/>
            <a:ext cx="1379880" cy="8751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9979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7D5EA3F-4026-4B6E-A363-D01DDB8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160" y="1657440"/>
            <a:ext cx="1227600" cy="7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Branch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Controller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47A1FE5-C758-4204-B8B2-D6512E9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1162080"/>
            <a:ext cx="39888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F3A5D33-F8EA-49BF-B05A-F927C3CF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61920"/>
            <a:ext cx="1237320" cy="5706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38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05E75D8-F4EC-4FD5-B70D-C0512D17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520" y="1000080"/>
            <a:ext cx="1084680" cy="494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838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Ramo 1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E63D3A1-B590-43A1-A491-6E412EF2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1971720"/>
            <a:ext cx="39888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7F686A9-46E1-42CB-8E0D-7DB5E78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560"/>
            <a:ext cx="1237320" cy="5706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69F55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1486F21-135A-4302-9EE5-698EC3FA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520" y="1809720"/>
            <a:ext cx="1084680" cy="49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Ramo 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36276E2-BE8B-4C67-9FA9-105E7707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20" y="2781360"/>
            <a:ext cx="39888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A2280E1-1E34-43F5-B830-F79D910C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1200"/>
            <a:ext cx="1237320" cy="5706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972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3C6DACC-4AD1-4E1D-9B81-C34ED91D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520" y="2619360"/>
            <a:ext cx="1084680" cy="49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Ramo 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6464664-BE18-4F9A-9B5A-202CEF25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40" y="1933560"/>
            <a:ext cx="360720" cy="236880"/>
          </a:xfrm>
          <a:prstGeom xmlns:a="http://schemas.openxmlformats.org/drawingml/2006/main" prst="rightArrow">
            <a:avLst>
              <a:gd name="adj1" fmla="val 50000"/>
              <a:gd name="adj2" fmla="val 50000"/>
            </a:avLst>
          </a:prstGeom>
          <a:solidFill xmlns:a="http://schemas.openxmlformats.org/drawingml/2006/main">
            <a:srgbClr val="999999"/>
          </a:solidFill>
          <a:ln xmlns:a="http://schemas.openxmlformats.org/drawingml/2006/main" w="9525">
            <a:solidFill>
              <a:srgbClr val="99999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C8923D6-78D8-445D-81FE-80FAE58B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600" y="1619280"/>
            <a:ext cx="1094400" cy="8751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59979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296EBC1-42AA-4A0F-B110-7B40715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20" y="1657440"/>
            <a:ext cx="941760" cy="7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Cabeças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de detecção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DF00A64-153B-423D-A49C-AB15E83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00" y="2880000"/>
            <a:ext cx="7809480" cy="142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Backbone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Extraem características das imagens (bordas, formas, texturas)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Branch Controller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Decide quais dos ramos especializados vão ser usados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Ramos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Sub-redes especializadas em classes agrupadas por coocorrência espacial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Cabeças de detecção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Transformam as características em resultados de detecção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482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6BBE220-4258-4E52-A404-CB638B4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Arquiteturas de estudo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5C0F8A5-1DF9-4281-B3A0-AEF853AF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Configurações 2B, 3B e 4B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E3BCC08-62F1-4C03-965B-B772908F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18ED420-74D6-4991-8EC2-D83810D8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440000"/>
            <a:ext cx="137988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7355993-045C-4866-9142-E66A90A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459080"/>
            <a:ext cx="128484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Configuração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9BEED00-7E57-4F35-951C-543EFEB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1440000"/>
            <a:ext cx="14277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736A924-957E-4C48-BD53-6398D738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60" y="1459080"/>
            <a:ext cx="13323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Número de ramos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8FBF49D-57F8-45F6-9D2E-870FCAEF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520" y="1440000"/>
            <a:ext cx="180864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ECD8FBD7-B635-4F01-B367-2B62B19C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0" y="1459080"/>
            <a:ext cx="171360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Classes por ramo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8BE4945-0468-4D42-B3D5-C49EB233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240" y="1440000"/>
            <a:ext cx="31899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EE16A71-CA56-4B36-9F3F-26706EF9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120" y="1459080"/>
            <a:ext cx="30945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Separação por ramo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6E0B664-D8FA-447F-9354-27CCAB6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880640"/>
            <a:ext cx="137988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5F5BAA2-39DC-4A2C-A805-909C8AB4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899720"/>
            <a:ext cx="128484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2B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9390D82-01EE-428F-8A67-F4DA6DE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1880640"/>
            <a:ext cx="14277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3E8A793-6E60-4DF8-B541-E58F28D9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60" y="1899720"/>
            <a:ext cx="13323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34F822F-9D89-490E-9260-4126FA22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520" y="1880640"/>
            <a:ext cx="180864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EF867A7-2C89-4056-B3E9-404916E5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0" y="1899720"/>
            <a:ext cx="171360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49 e 47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405D25D-4EA6-4D20-90C2-066FEA0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240" y="1880640"/>
            <a:ext cx="31899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A5A6079-A207-4CD3-B94E-9F7A0FD6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120" y="1899720"/>
            <a:ext cx="30945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Ambiente Externo / Ambiente Interno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9E63ADDC-6710-4890-8948-6D01603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321280"/>
            <a:ext cx="137988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E66CE7C-D013-4769-9590-46B1058B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340360"/>
            <a:ext cx="128484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3B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40314EB-2DCF-4276-8524-43ACB0A3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2321280"/>
            <a:ext cx="14277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8946B37-E889-4D9F-97DD-086406A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60" y="2340360"/>
            <a:ext cx="13323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82C85A4-D9E7-403C-BADF-5D4B27B0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520" y="2321280"/>
            <a:ext cx="180864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6138D18-3AFE-4BD4-BF0E-E87B4AF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0" y="2340360"/>
            <a:ext cx="171360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40, 25 e 47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DD4608D-C579-4D1C-BF8C-AD9467F3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240" y="2321280"/>
            <a:ext cx="31899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80E8C98-F23A-4CAB-B288-B2568289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120" y="2340360"/>
            <a:ext cx="30945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Animais e Esporte / Rua / Ambiente Interno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3C3F3D2-DE91-4F2C-917B-6624DB15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761560"/>
            <a:ext cx="137988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684DDCF-31E4-409E-A530-F74675FF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780640"/>
            <a:ext cx="128484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4B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C94641B-7AED-4C6B-B287-5000549A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40" y="2761560"/>
            <a:ext cx="14277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48507F2-6151-4A93-87CA-1DDDCA2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60" y="2780640"/>
            <a:ext cx="13323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3D8BD1D-39AB-47F9-86C2-4BD3D24C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520" y="2761560"/>
            <a:ext cx="180864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94DD9DD5-3F5E-4B6A-8624-014BCC6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0" y="2780640"/>
            <a:ext cx="171360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40, 25, 23 e 40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4903096-8E98-4C31-BEB9-623F27A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240" y="2761560"/>
            <a:ext cx="3189960" cy="43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3372316-4B28-4242-A0C5-286A2188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120" y="2780640"/>
            <a:ext cx="3094560" cy="40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Animais e Esporte / Rua / Sala / Cozinha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D11AF7B-52BD-4AAC-B69E-81D5286B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40" y="3333600"/>
            <a:ext cx="7333200" cy="10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Como os grupos são formados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5F5F5F"/>
                </a:solidFill>
                <a:latin typeface="Arial Narrow"/>
                <a:ea typeface="Arial Narrow"/>
                <a:cs typeface="Arial Narrow"/>
              </a:rPr>
              <a:t>AdaCon agrupa classes que aparecem juntas na mesma cena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Exemplo de contexto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5F5F5F"/>
                </a:solidFill>
                <a:latin typeface="Arial Narrow"/>
                <a:ea typeface="Arial Narrow"/>
                <a:cs typeface="Arial Narrow"/>
              </a:rPr>
              <a:t>Uma cena urbana pode acionar grupos de pessoas, veículos e sinais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79"/>
              </a:spcAft>
              <a:buClr>
                <a:srgbClr val="434343"/>
              </a:buClr>
              <a:buFont typeface="Symbol"/>
              <a:buChar char=""/>
            </a:pPr>
            <a:r>
              <a:rPr sz="17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Efeito esperado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2000" lvl="1" indent="-216000">
              <a:lnSpc>
                <a:spcPct val="100000"/>
              </a:lnSpc>
              <a:spcAft>
                <a:spcPts val="79"/>
              </a:spcAft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300" b="0" u="none">
                <a:solidFill>
                  <a:srgbClr val="5F5F5F"/>
                </a:solidFill>
                <a:latin typeface="Arial Narrow"/>
                <a:ea typeface="Arial Narrow"/>
                <a:cs typeface="Arial Narrow"/>
              </a:rPr>
              <a:t>Mais ramos reduzem canais ativos, mas aumentam a fragmentação entre grupos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67751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BB66ECD-6D41-45BD-B58E-362B614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Metodologia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410D8B3-AC42-47D7-9B2C-8F7F50EB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Passo a passo experimental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7336AE6-8E26-4DDB-ADE3-9493138D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6222133-33CE-43F2-BD07-4EF81A8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200240"/>
            <a:ext cx="2856600" cy="32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B4DC83F-FB1C-4A2E-BE3A-7B29075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80" y="1523880"/>
            <a:ext cx="7885800" cy="269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434343"/>
              </a:buClr>
              <a:buFont typeface="OpenSymbol"/>
              <a:buAutoNum type="arabicPeriod"/>
            </a:pPr>
            <a:r>
              <a:rPr sz="1700" b="0" i="1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Treinamento do AdaCon com o COCO 2017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34343"/>
              </a:buClr>
              <a:buFont typeface="OpenSymbol"/>
              <a:buAutoNum type="arabicPeriod"/>
            </a:pPr>
            <a:r>
              <a:rPr sz="1700" b="0" i="1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Comparação das configurações-base (2B, 3B e 4B)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434343"/>
              </a:buClr>
              <a:buFont typeface="OpenSymbol"/>
              <a:buAutoNum type="arabicPeriod"/>
            </a:pPr>
            <a:r>
              <a:rPr sz="1700" b="0" i="1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Treinamento das saídas antecipadas em diferentes posições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434343"/>
              </a:buClr>
              <a:buFont typeface="OpenSymbol"/>
              <a:buAutoNum type="arabicPeriod"/>
            </a:pPr>
            <a:r>
              <a:rPr sz="1700" b="0" i="1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Escolha da camada da saída antecipada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434343"/>
              </a:buClr>
              <a:buFont typeface="OpenSymbol"/>
              <a:buAutoNum type="arabicPeriod"/>
            </a:pPr>
            <a:r>
              <a:rPr sz="1700" b="0" i="1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Avaliação com diferentes critérios de saída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434343"/>
              </a:buClr>
              <a:buFont typeface="OpenSymbol"/>
              <a:buAutoNum type="arabicPeriod"/>
            </a:pPr>
            <a:r>
              <a:rPr sz="1700" b="0" i="1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Obtenção dos resultados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33469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DB61011-FA8E-4B2F-932C-C84217C0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Metodologia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BBF584B-259A-4DAC-8B91-EB2BB5CD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Configuração usadas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11BF739-E21F-4265-9C06-53667FA8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342BDA4-D8DD-4CE3-BB1F-EFA201E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1626120"/>
            <a:ext cx="197244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75B2E527-67C9-4276-9A78-B96FC1D4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80" y="1649160"/>
            <a:ext cx="186552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 que varia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BFD9FD8-9C9B-436A-A2BC-1F00DE39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520" y="1626120"/>
            <a:ext cx="378576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2664C71-ABED-4466-966D-3F1687F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800" y="1649160"/>
            <a:ext cx="367884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Opções avaliadas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76466B8-1844-4C25-ABD1-F0B5937F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2129040"/>
            <a:ext cx="197244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764186E-52C4-42F2-93E3-AA7F695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80" y="2151720"/>
            <a:ext cx="186552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Ramos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A5C968C5-95EF-41A0-98A5-39BA6056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520" y="2129040"/>
            <a:ext cx="378576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F8870E21-2C16-4A18-AB61-066ABEA5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800" y="2151720"/>
            <a:ext cx="367884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2B, 3B e 4B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842E403-A122-4D8B-A3F0-9ABF3FB7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2631960"/>
            <a:ext cx="1972440" cy="50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E053FE9-CF50-49F9-96DA-7B6782A0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80" y="2655000"/>
            <a:ext cx="186552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Camada da saída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0B681DB-A6E3-4541-AD61-14870A62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520" y="2631960"/>
            <a:ext cx="3785760" cy="50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E8D4D89F-B714-440C-A202-2BFF655A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800" y="2655000"/>
            <a:ext cx="367884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49, 52, 55, 58 e 61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8DA43B5-AE4F-4989-A787-7B55690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3134880"/>
            <a:ext cx="197244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FC1EF69-9826-4C86-9F90-0BE8DB10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80" y="3157920"/>
            <a:ext cx="186552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Modo do gate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00E54E1-B8E0-4225-AA52-A16F403C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520" y="3134880"/>
            <a:ext cx="378576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6000B25-A280-4B99-A163-30F11A11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800" y="3157920"/>
            <a:ext cx="367884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Média, Média Ponderada, Mínimo, Máximo, Mediana e outros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AA95FDA-E40A-4BD1-A1F1-33930176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0" y="2973600"/>
            <a:ext cx="2985480" cy="45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071C8013-DA10-4E36-8035-973A8C3B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00" y="3637800"/>
            <a:ext cx="197244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D301589-D713-4908-A227-C2D5C009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280" y="3660480"/>
            <a:ext cx="186552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Limiar τ (threshold)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2E7BA83-EFC0-464D-B9B5-B4CA00B6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520" y="3637800"/>
            <a:ext cx="3785760" cy="50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0296E41-226A-47CD-AD6B-16F7E9D7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800" y="3660480"/>
            <a:ext cx="3678840" cy="45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0,00 a 1,00, passo 0,05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74319C7-6FF1-4C01-98FC-DD318AF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60" y="1626120"/>
            <a:ext cx="2896920" cy="71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662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20A94D0-5706-41C6-AA8E-140879A3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Metodologia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BBEE652-3C94-4C33-B34E-8A624490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Métricas Avaliadas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D97378F-1A89-4FD2-A6A4-E86AEA2C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8977AA69-9592-4E08-9961-52C40904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60" y="1626120"/>
            <a:ext cx="2896920" cy="71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" name="COCO AP (AP50:95) — fundo">
            <a:extLst xmlns:a="http://schemas.openxmlformats.org/drawingml/2006/main">
              <a:ext uri="{FF2B5EF4-FFF2-40B4-BE49-F238E27FC236}">
                <a16:creationId xmlns:a16="http://schemas.microsoft.com/office/drawing/2014/main" id="{3AB90999-F890-450F-9F3B-3599DA1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40" y="1443960"/>
            <a:ext cx="3655800" cy="1435680"/>
          </a:xfrm>
          <a:prstGeom xmlns:a="http://schemas.openxmlformats.org/drawingml/2006/main" prst="roundRect">
            <a:avLst>
              <a:gd name="adj" fmla="val 88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5E3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COCO AP (AP50:95) — cabeçalho">
            <a:extLst xmlns:a="http://schemas.openxmlformats.org/drawingml/2006/main">
              <a:ext uri="{FF2B5EF4-FFF2-40B4-BE49-F238E27FC236}">
                <a16:creationId xmlns:a16="http://schemas.microsoft.com/office/drawing/2014/main" id="{B18F002F-1F1A-4043-8767-694C38F2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20" y="1558080"/>
            <a:ext cx="304740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COCO AP (AP50:95)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COCO AP (AP50:95) — conteúdo">
            <a:extLst xmlns:a="http://schemas.openxmlformats.org/drawingml/2006/main">
              <a:ext uri="{FF2B5EF4-FFF2-40B4-BE49-F238E27FC236}">
                <a16:creationId xmlns:a16="http://schemas.microsoft.com/office/drawing/2014/main" id="{C517B829-D10C-4CCE-B288-19F60167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80" y="1920240"/>
            <a:ext cx="3104280" cy="59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40" b="0" u="none">
                <a:solidFill>
                  <a:srgbClr val="263A44"/>
                </a:solidFill>
                <a:latin typeface="Arial Narrow"/>
                <a:ea typeface="Arial Narrow"/>
                <a:cs typeface="Arial Narrow"/>
              </a:rPr>
              <a:t>•</a:t>
            </a:r>
            <a:r>
              <a:rPr sz="1400" b="0" u="none">
                <a:solidFill>
                  <a:srgbClr val="263A44"/>
                </a:solidFill>
                <a:latin typeface="Arial Narrow"/>
                <a:ea typeface="Arial Narrow"/>
                <a:cs typeface="Arial Narrow"/>
              </a:rPr>
              <a:t> Qualidade da detecção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263A44"/>
                </a:solidFill>
                <a:latin typeface="Arial Narrow"/>
                <a:ea typeface="Arial Narrow"/>
                <a:cs typeface="Arial Narrow"/>
              </a:rPr>
              <a:t>  ◦</a:t>
            </a:r>
            <a:r>
              <a:rPr sz="12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 Classe correta e caixa bem localizada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  ◦ IoU de 0,50 a 0,95, em passos de 0,05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  ◦ Maior valor indica melhor resultado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GMAC por imagem — fundo">
            <a:extLst xmlns:a="http://schemas.openxmlformats.org/drawingml/2006/main">
              <a:ext uri="{FF2B5EF4-FFF2-40B4-BE49-F238E27FC236}">
                <a16:creationId xmlns:a16="http://schemas.microsoft.com/office/drawing/2014/main" id="{3AAC2633-55C7-4301-91D4-BEA7AE56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40" y="3060000"/>
            <a:ext cx="3655800" cy="1435680"/>
          </a:xfrm>
          <a:prstGeom xmlns:a="http://schemas.openxmlformats.org/drawingml/2006/main" prst="roundRect">
            <a:avLst>
              <a:gd name="adj" fmla="val 885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5E3E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GMAC por imagem — cabeçalho">
            <a:extLst xmlns:a="http://schemas.openxmlformats.org/drawingml/2006/main">
              <a:ext uri="{FF2B5EF4-FFF2-40B4-BE49-F238E27FC236}">
                <a16:creationId xmlns:a16="http://schemas.microsoft.com/office/drawing/2014/main" id="{C70E03F0-1D04-4157-BADE-67C9B147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20" y="3174480"/>
            <a:ext cx="3047400" cy="227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GMAC por imagem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MAC por imagem — conteúdo">
            <a:extLst xmlns:a="http://schemas.openxmlformats.org/drawingml/2006/main">
              <a:ext uri="{FF2B5EF4-FFF2-40B4-BE49-F238E27FC236}">
                <a16:creationId xmlns:a16="http://schemas.microsoft.com/office/drawing/2014/main" id="{856A12CA-BD25-42A7-8A93-0747253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80" y="3536280"/>
            <a:ext cx="3104280" cy="59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263A44"/>
                </a:solidFill>
                <a:latin typeface="Arial Narrow"/>
                <a:ea typeface="Arial Narrow"/>
                <a:cs typeface="Arial Narrow"/>
              </a:rPr>
              <a:t>• Custo computacional por imagem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263A44"/>
                </a:solidFill>
                <a:latin typeface="Arial Narrow"/>
                <a:ea typeface="Arial Narrow"/>
                <a:cs typeface="Arial Narrow"/>
              </a:rPr>
              <a:t> </a:t>
            </a:r>
            <a:r>
              <a:rPr sz="12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 ◦ GMAC = bilhões de operações MAC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  ◦ Medido na rota realmente executada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666666"/>
                </a:solidFill>
                <a:latin typeface="Arial Narrow"/>
                <a:ea typeface="Arial Narrow"/>
                <a:cs typeface="Arial Narrow"/>
              </a:rPr>
              <a:t>  ◦ Menor valor indica menor custo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Legenda anotação">
            <a:extLst xmlns:a="http://schemas.openxmlformats.org/drawingml/2006/main">
              <a:ext uri="{FF2B5EF4-FFF2-40B4-BE49-F238E27FC236}">
                <a16:creationId xmlns:a16="http://schemas.microsoft.com/office/drawing/2014/main" id="{4395CB7D-AC34-44BB-B3D7-159A5020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4000" y="1914480"/>
            <a:ext cx="142200" cy="4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1280" tIns="2520" rIns="71280" bIns="2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Legenda predição">
            <a:extLst xmlns:a="http://schemas.openxmlformats.org/drawingml/2006/main">
              <a:ext uri="{FF2B5EF4-FFF2-40B4-BE49-F238E27FC236}">
                <a16:creationId xmlns:a16="http://schemas.microsoft.com/office/drawing/2014/main" id="{319D7EF8-BF4F-4072-B28D-4CFEA625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1914480"/>
            <a:ext cx="142200" cy="4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71280" tIns="2520" rIns="71280" bIns="25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Critério de seleção">
            <a:extLst xmlns:a="http://schemas.openxmlformats.org/drawingml/2006/main">
              <a:ext uri="{FF2B5EF4-FFF2-40B4-BE49-F238E27FC236}">
                <a16:creationId xmlns:a16="http://schemas.microsoft.com/office/drawing/2014/main" id="{51E2CAD0-6592-47B8-801D-DDAD0249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20" y="4429080"/>
            <a:ext cx="3475800" cy="31356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e374a72c44337"/>
          <a:srcRect xmlns:a="http://schemas.openxmlformats.org/drawingml/2006/main" l="0" t="64" r="0" b="64"/>
          <a:stretch xmlns:a="http://schemas.openxmlformats.org/drawingml/2006/main"/>
        </p:blipFill>
        <p:spPr>
          <a:xfrm xmlns:a="http://schemas.openxmlformats.org/drawingml/2006/main">
            <a:off x="4680000" y="1507680"/>
            <a:ext cx="4042440" cy="227196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</p:spTree>
    <p:extLst>
      <p:ext uri="{BB962C8B-B14F-4D97-AF65-F5344CB8AC3E}">
        <p14:creationId xmlns:p14="http://schemas.microsoft.com/office/powerpoint/2010/main" val="2027415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Título da seção">
            <a:extLst xmlns:a="http://schemas.openxmlformats.org/drawingml/2006/main">
              <a:ext uri="{FF2B5EF4-FFF2-40B4-BE49-F238E27FC236}">
                <a16:creationId xmlns:a16="http://schemas.microsoft.com/office/drawing/2014/main" id="{DD0EC372-90E8-44A1-A4CD-D52EE951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84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B9E9B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Subtítulo">
            <a:extLst xmlns:a="http://schemas.openxmlformats.org/drawingml/2006/main">
              <a:ext uri="{FF2B5EF4-FFF2-40B4-BE49-F238E27FC236}">
                <a16:creationId xmlns:a16="http://schemas.microsoft.com/office/drawing/2014/main" id="{A77EB56C-95BA-4FA3-83C7-2404964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360" cy="28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AdaCon sem saída antecipada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Número da página">
            <a:extLst xmlns:a="http://schemas.openxmlformats.org/drawingml/2006/main">
              <a:ext uri="{FF2B5EF4-FFF2-40B4-BE49-F238E27FC236}">
                <a16:creationId xmlns:a16="http://schemas.microsoft.com/office/drawing/2014/main" id="{EF33686D-1CEE-4D67-86AF-B1CD2AB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880" cy="38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88DE1DB-695B-4728-A908-40C4D92C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60" y="3780000"/>
            <a:ext cx="3059640" cy="719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1395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Configuração 2B escolhido como base 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8" name="Tabela de configurações-base r0c0">
            <a:extLst xmlns:a="http://schemas.openxmlformats.org/drawingml/2006/main">
              <a:ext uri="{FF2B5EF4-FFF2-40B4-BE49-F238E27FC236}">
                <a16:creationId xmlns:a16="http://schemas.microsoft.com/office/drawing/2014/main" id="{F5655112-DC70-49DD-837D-C5A0736F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1695600"/>
            <a:ext cx="14666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Configuração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Tabela de configurações-base r0c1">
            <a:extLst xmlns:a="http://schemas.openxmlformats.org/drawingml/2006/main">
              <a:ext uri="{FF2B5EF4-FFF2-40B4-BE49-F238E27FC236}">
                <a16:creationId xmlns:a16="http://schemas.microsoft.com/office/drawing/2014/main" id="{038BDBD1-9DE9-4AA4-90AE-15E8EE17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60" y="169560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COCO AP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0" name="Tabela de configurações-base r0c2">
            <a:extLst xmlns:a="http://schemas.openxmlformats.org/drawingml/2006/main">
              <a:ext uri="{FF2B5EF4-FFF2-40B4-BE49-F238E27FC236}">
                <a16:creationId xmlns:a16="http://schemas.microsoft.com/office/drawing/2014/main" id="{CDC343FB-50E8-40CE-AD82-8FCFE758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9560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1" name="Tabela de configurações-base r0c3">
            <a:extLst xmlns:a="http://schemas.openxmlformats.org/drawingml/2006/main">
              <a:ext uri="{FF2B5EF4-FFF2-40B4-BE49-F238E27FC236}">
                <a16:creationId xmlns:a16="http://schemas.microsoft.com/office/drawing/2014/main" id="{4A1B0644-4689-43B0-A595-05601DEE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1695600"/>
            <a:ext cx="12758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AP/GMAC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2" name="Tabela de configurações-base r1c0">
            <a:extLst xmlns:a="http://schemas.openxmlformats.org/drawingml/2006/main">
              <a:ext uri="{FF2B5EF4-FFF2-40B4-BE49-F238E27FC236}">
                <a16:creationId xmlns:a16="http://schemas.microsoft.com/office/drawing/2014/main" id="{BA247C65-0B54-4EBE-A93C-00FE4A4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2128680"/>
            <a:ext cx="14666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2B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Tabela de configurações-base r1c1">
            <a:extLst xmlns:a="http://schemas.openxmlformats.org/drawingml/2006/main">
              <a:ext uri="{FF2B5EF4-FFF2-40B4-BE49-F238E27FC236}">
                <a16:creationId xmlns:a16="http://schemas.microsoft.com/office/drawing/2014/main" id="{6937943B-03F0-4EE4-AF9B-934F383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60" y="212868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0,2546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Tabela de configurações-base r1c2">
            <a:extLst xmlns:a="http://schemas.openxmlformats.org/drawingml/2006/main">
              <a:ext uri="{FF2B5EF4-FFF2-40B4-BE49-F238E27FC236}">
                <a16:creationId xmlns:a16="http://schemas.microsoft.com/office/drawing/2014/main" id="{3731570A-9A5E-4C22-A5DB-278871F0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2868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28,039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Tabela de configurações-base r1c3">
            <a:extLst xmlns:a="http://schemas.openxmlformats.org/drawingml/2006/main">
              <a:ext uri="{FF2B5EF4-FFF2-40B4-BE49-F238E27FC236}">
                <a16:creationId xmlns:a16="http://schemas.microsoft.com/office/drawing/2014/main" id="{A23AD7B1-BB77-4BE0-BBA8-6DE472A8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2128680"/>
            <a:ext cx="12758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0,009081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abela de configurações-base r2c0">
            <a:extLst xmlns:a="http://schemas.openxmlformats.org/drawingml/2006/main">
              <a:ext uri="{FF2B5EF4-FFF2-40B4-BE49-F238E27FC236}">
                <a16:creationId xmlns:a16="http://schemas.microsoft.com/office/drawing/2014/main" id="{6323AB50-9B0E-4138-91CC-A1F2B8B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2562120"/>
            <a:ext cx="14666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3B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abela de configurações-base r2c1">
            <a:extLst xmlns:a="http://schemas.openxmlformats.org/drawingml/2006/main">
              <a:ext uri="{FF2B5EF4-FFF2-40B4-BE49-F238E27FC236}">
                <a16:creationId xmlns:a16="http://schemas.microsoft.com/office/drawing/2014/main" id="{B6B03353-9BE2-45FD-8F5E-E6576FD6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60" y="256212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0,2331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abela de configurações-base r2c2">
            <a:extLst xmlns:a="http://schemas.openxmlformats.org/drawingml/2006/main">
              <a:ext uri="{FF2B5EF4-FFF2-40B4-BE49-F238E27FC236}">
                <a16:creationId xmlns:a16="http://schemas.microsoft.com/office/drawing/2014/main" id="{9B73AF3B-1F9E-49E0-A061-5676B714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6212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27,169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Tabela de configurações-base r2c3">
            <a:extLst xmlns:a="http://schemas.openxmlformats.org/drawingml/2006/main">
              <a:ext uri="{FF2B5EF4-FFF2-40B4-BE49-F238E27FC236}">
                <a16:creationId xmlns:a16="http://schemas.microsoft.com/office/drawing/2014/main" id="{AE8A0780-8B95-487E-AAD8-99784E5B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2562120"/>
            <a:ext cx="12758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0,008578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abela de configurações-base r3c0">
            <a:extLst xmlns:a="http://schemas.openxmlformats.org/drawingml/2006/main">
              <a:ext uri="{FF2B5EF4-FFF2-40B4-BE49-F238E27FC236}">
                <a16:creationId xmlns:a16="http://schemas.microsoft.com/office/drawing/2014/main" id="{E3E6F329-2D2B-4DBC-A9C3-E0F5B50B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2995560"/>
            <a:ext cx="14666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4B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abela de configurações-base r3c1">
            <a:extLst xmlns:a="http://schemas.openxmlformats.org/drawingml/2006/main">
              <a:ext uri="{FF2B5EF4-FFF2-40B4-BE49-F238E27FC236}">
                <a16:creationId xmlns:a16="http://schemas.microsoft.com/office/drawing/2014/main" id="{A043862E-F691-4E98-AA94-D6C98590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60" y="299556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0,2268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abela de configurações-base r3c2">
            <a:extLst xmlns:a="http://schemas.openxmlformats.org/drawingml/2006/main">
              <a:ext uri="{FF2B5EF4-FFF2-40B4-BE49-F238E27FC236}">
                <a16:creationId xmlns:a16="http://schemas.microsoft.com/office/drawing/2014/main" id="{977A93C1-21B6-4610-9C78-89E78CB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95560"/>
            <a:ext cx="126648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26,735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Tabela de configurações-base r3c3">
            <a:extLst xmlns:a="http://schemas.openxmlformats.org/drawingml/2006/main">
              <a:ext uri="{FF2B5EF4-FFF2-40B4-BE49-F238E27FC236}">
                <a16:creationId xmlns:a16="http://schemas.microsoft.com/office/drawing/2014/main" id="{ABA6B8C3-A02B-47E0-95D5-4E7CD9FC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2995560"/>
            <a:ext cx="1275840" cy="43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0,008485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10498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4213013-9B2E-4518-A48D-FE449E6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8FCA582-2290-4463-A570-5D0336FC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Qual camada usar?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3D8C686-BFA5-4108-A874-97C9C43C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5E61857-1B22-49BA-88B6-69EC7681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00" y="1440000"/>
            <a:ext cx="99900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75C007A-8FA1-4B42-BEA0-A99532A9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459080"/>
            <a:ext cx="90396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Camada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BB03C2E-57C4-4E00-8D72-F41844F9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80" y="144000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F57ED04-FC3B-468F-ABFF-D40B833A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60" y="145908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COCO AP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7D39117-3452-4E82-AD0C-A35097AA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40" y="144000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DEF36A3-A6CF-451C-81CA-947DF783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20" y="145908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 da rota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070EB2D-E4DB-4789-B2C1-DF8F62A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400" y="1440000"/>
            <a:ext cx="13798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2F0E762-4F67-4EA4-8BEF-E0A1E43D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0" y="1459080"/>
            <a:ext cx="128484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/ GMAC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84E072C-0CBD-4581-BB74-EF3F2CDE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00" y="1459080"/>
            <a:ext cx="266580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Decisão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2B3C493-D162-41BE-83C0-F2A7E2E4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00" y="1828800"/>
            <a:ext cx="99900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470C644-BF87-4968-9713-06830E9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1847880"/>
            <a:ext cx="90396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49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5017815-C014-4C53-A364-5DFC350E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80" y="182880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BB5CBEA-6E3F-404C-9547-D100A8A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60" y="184788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0,0968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F09593A2-962D-4B92-BC37-E66EB9A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40" y="182880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0925405-0DC5-4C14-8D3F-7A832A05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20" y="184788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16,879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C5D679A-3E3A-442A-9B85-DE11FC3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400" y="1828800"/>
            <a:ext cx="13798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9B03A625-58E1-4C40-8351-A8BF456F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0" y="1847880"/>
            <a:ext cx="128484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0,0057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219A393-8253-45D3-8753-F1D62F74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00" y="1847880"/>
            <a:ext cx="266580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F12B9D0-6D9F-4E36-A520-D528C0F8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00" y="2217960"/>
            <a:ext cx="99900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3E27E7FE-68D7-480A-9A11-16BF80C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237040"/>
            <a:ext cx="90396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52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70AAF1B-7674-42D8-823F-FD12F48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80" y="221796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3837FD28-1DB4-400D-BFDC-03B5B408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60" y="223704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0,1061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8A31AFA-3660-47F5-A673-CD191555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40" y="221796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C3B50447-2E33-44BB-A9D0-E06470AE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20" y="223704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17,765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5DC3930-F003-402B-8BF1-1BADDAD0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400" y="2217960"/>
            <a:ext cx="13798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9066619-35A0-42AD-BCAC-A8DD067F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0" y="2237040"/>
            <a:ext cx="128484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0,0060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CBF26ED-9B41-4D12-B47D-47066A18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00" y="2606760"/>
            <a:ext cx="99900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8B51BEC1-5AE9-4004-822D-155EE79A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25840"/>
            <a:ext cx="90396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55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80E4CBEC-FD5B-43F0-94CA-3CEB1ADC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80" y="260676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0AFF5FD1-62F7-4ED0-974E-0FA30AF9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60" y="262584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0,1184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DE4B2E5-FD24-4B7F-BB23-A158A129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40" y="260676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72D60F92-1C74-456D-BE68-97CD2FFD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20" y="262584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18,651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336DAFA-2C29-4B9E-A467-8CD6D050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400" y="2606760"/>
            <a:ext cx="13798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32A7CFD-E4CF-47F0-B764-75F211F2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0" y="2625840"/>
            <a:ext cx="128484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0,0063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60A91B0B-821C-4C34-878E-F98F7479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00" y="2625840"/>
            <a:ext cx="266580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0F88A02-BA1E-4CE9-922A-F8D67739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00" y="2995920"/>
            <a:ext cx="99900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B2C605B-2946-4C94-AA13-6DAAF18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014640"/>
            <a:ext cx="90396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58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E52329C-DBFF-4026-BF6A-8448E85B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80" y="299592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A4B88DE-8885-44DC-8677-AEA493CE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60" y="301464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0,1333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55D361E-E3AC-4C75-BA5F-89A7B64A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40" y="299592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9DFBA48-648A-410C-B0DF-BEB3494F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20" y="301464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19,537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DA8FD8A-9CE6-454F-98C7-A8D4894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400" y="2995920"/>
            <a:ext cx="13798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50157E47-ACDF-47C6-9298-2582AA7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0" y="3014640"/>
            <a:ext cx="128484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0,0068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9249F78-B830-44AB-8370-0E3DC40A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00" y="3014640"/>
            <a:ext cx="266580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8300645-C4CB-4C48-8D7E-4D0144A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600" y="3384720"/>
            <a:ext cx="99900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92D174D-B941-4D6F-8544-D671FB55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03800"/>
            <a:ext cx="90396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61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6C4A19F-FB7D-4B03-8C2D-2A4A4BA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680" y="338472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77626EE-6E9E-4A8D-89EC-5BB50A88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60" y="340380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0,1504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E4B9624-E196-4BEC-8AB8-47C5434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40" y="3384720"/>
            <a:ext cx="14752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037001C3-1D5D-4A69-88E6-CBACE5AF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20" y="3403800"/>
            <a:ext cx="137988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20,423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3ADCB13-FDA1-4D10-9657-19AF11DF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400" y="3384720"/>
            <a:ext cx="1379880" cy="38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887446B-2E2F-4091-839B-5568D626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280" y="3403800"/>
            <a:ext cx="128484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0,0074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ADD802F-85BA-4F1C-A62A-3841ADEB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00" y="3403800"/>
            <a:ext cx="2665800" cy="349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EB4FC05D-0803-44B8-9096-D6F6E2BC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00" y="3848040"/>
            <a:ext cx="303732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Camada 55: menor custo entre as finalistas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BAA32044-B030-42BE-915F-A28AF043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0" y="4140000"/>
            <a:ext cx="3059280" cy="5392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1395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Camada 61 escolhida como vencedora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02F82049-8EBB-44EB-803D-77D9684B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80" y="3848040"/>
            <a:ext cx="3037320" cy="37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Camada 61: maior qualidade de detecção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73" name=""/>
          <p:cNvCxnSpPr>
            <a:stCxn xmlns:a="http://schemas.openxmlformats.org/drawingml/2006/main" id="308" idx="2"/>
            <a:endCxn xmlns:a="http://schemas.openxmlformats.org/drawingml/2006/main" id="311" idx="3"/>
          </p:cNvCxnSpPr>
          <p:nvPr/>
        </p:nvCxnSpPr>
        <p:spPr>
          <a:xfrm xmlns:a="http://schemas.openxmlformats.org/drawingml/2006/main" rot="5400000">
            <a:off x="5536440" y="3796560"/>
            <a:ext cx="656280" cy="570960"/>
          </a:xfrm>
          <a:prstGeom xmlns:a="http://schemas.openxmlformats.org/drawingml/2006/main" prst="curvedConnector2">
            <a:avLst/>
          </a:prstGeom>
          <a:ln xmlns:a="http://schemas.openxmlformats.org/drawingml/2006/main" w="38160">
            <a:solidFill>
              <a:srgbClr val="51395E"/>
            </a:solidFill>
            <a:rou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922390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4" name="Título da seção">
            <a:extLst xmlns:a="http://schemas.openxmlformats.org/drawingml/2006/main">
              <a:ext uri="{FF2B5EF4-FFF2-40B4-BE49-F238E27FC236}">
                <a16:creationId xmlns:a16="http://schemas.microsoft.com/office/drawing/2014/main" id="{D28F0952-036A-467F-9BA6-66A6377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84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B9E9B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Subtítulo">
            <a:extLst xmlns:a="http://schemas.openxmlformats.org/drawingml/2006/main">
              <a:ext uri="{FF2B5EF4-FFF2-40B4-BE49-F238E27FC236}">
                <a16:creationId xmlns:a16="http://schemas.microsoft.com/office/drawing/2014/main" id="{0113E3DB-7B66-4D41-A620-209D8F5D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360" cy="28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Modos de classificação da saída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Destaque">
            <a:extLst xmlns:a="http://schemas.openxmlformats.org/drawingml/2006/main">
              <a:ext uri="{FF2B5EF4-FFF2-40B4-BE49-F238E27FC236}">
                <a16:creationId xmlns:a16="http://schemas.microsoft.com/office/drawing/2014/main" id="{F22DE19A-AABE-4F9E-85A5-3F1C9A06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3600000"/>
            <a:ext cx="6952680" cy="4564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2F1"/>
          </a:solidFill>
          <a:ln xmlns:a="http://schemas.openxmlformats.org/drawingml/2006/main" w="9525">
            <a:solidFill>
              <a:srgbClr val="B7D9D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Escolha final: Média Ponderada com τ = 0,40. AP preservado: 97,24%.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7" name="Número da página">
            <a:extLst xmlns:a="http://schemas.openxmlformats.org/drawingml/2006/main">
              <a:ext uri="{FF2B5EF4-FFF2-40B4-BE49-F238E27FC236}">
                <a16:creationId xmlns:a16="http://schemas.microsoft.com/office/drawing/2014/main" id="{E3587F74-DF2D-44E5-B646-8D7CE1A0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880" cy="38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8" name="Tabela de modos de classificação r0c0">
            <a:extLst xmlns:a="http://schemas.openxmlformats.org/drawingml/2006/main">
              <a:ext uri="{FF2B5EF4-FFF2-40B4-BE49-F238E27FC236}">
                <a16:creationId xmlns:a16="http://schemas.microsoft.com/office/drawing/2014/main" id="{1C4C6047-1014-46C7-A26D-8784038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440000"/>
            <a:ext cx="274284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Método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Tabela de modos de classificação r0c1">
            <a:extLst xmlns:a="http://schemas.openxmlformats.org/drawingml/2006/main">
              <a:ext uri="{FF2B5EF4-FFF2-40B4-BE49-F238E27FC236}">
                <a16:creationId xmlns:a16="http://schemas.microsoft.com/office/drawing/2014/main" id="{CBCB383E-23EE-4F44-BC1C-42787D4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20" y="1440000"/>
            <a:ext cx="76176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τ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0" name="Tabela de modos de classificação r0c2">
            <a:extLst xmlns:a="http://schemas.openxmlformats.org/drawingml/2006/main">
              <a:ext uri="{FF2B5EF4-FFF2-40B4-BE49-F238E27FC236}">
                <a16:creationId xmlns:a16="http://schemas.microsoft.com/office/drawing/2014/main" id="{1850FB35-7EC8-420C-9DCB-22EECDE6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144000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COCO AP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1" name="Tabela de modos de classificação r0c3">
            <a:extLst xmlns:a="http://schemas.openxmlformats.org/drawingml/2006/main">
              <a:ext uri="{FF2B5EF4-FFF2-40B4-BE49-F238E27FC236}">
                <a16:creationId xmlns:a16="http://schemas.microsoft.com/office/drawing/2014/main" id="{FADE7358-F97D-4BD9-A275-21A43BD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144000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2" name="Tabela de modos de classificação r0c4">
            <a:extLst xmlns:a="http://schemas.openxmlformats.org/drawingml/2006/main">
              <a:ext uri="{FF2B5EF4-FFF2-40B4-BE49-F238E27FC236}">
                <a16:creationId xmlns:a16="http://schemas.microsoft.com/office/drawing/2014/main" id="{E4781F8C-8EE2-4686-83B9-996AFFC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20" y="1440000"/>
            <a:ext cx="163800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% EE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Tabela de modos de classificação r1c0">
            <a:extLst xmlns:a="http://schemas.openxmlformats.org/drawingml/2006/main">
              <a:ext uri="{FF2B5EF4-FFF2-40B4-BE49-F238E27FC236}">
                <a16:creationId xmlns:a16="http://schemas.microsoft.com/office/drawing/2014/main" id="{EE392976-5FE6-4AAD-A026-5D562267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782720"/>
            <a:ext cx="274284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Média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4" name="Tabela de modos de classificação r1c1">
            <a:extLst xmlns:a="http://schemas.openxmlformats.org/drawingml/2006/main">
              <a:ext uri="{FF2B5EF4-FFF2-40B4-BE49-F238E27FC236}">
                <a16:creationId xmlns:a16="http://schemas.microsoft.com/office/drawing/2014/main" id="{87F86058-E77E-4DE1-9FAB-DBA88505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20" y="1782720"/>
            <a:ext cx="76176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0,40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5" name="Tabela de modos de classificação r1c2">
            <a:extLst xmlns:a="http://schemas.openxmlformats.org/drawingml/2006/main">
              <a:ext uri="{FF2B5EF4-FFF2-40B4-BE49-F238E27FC236}">
                <a16:creationId xmlns:a16="http://schemas.microsoft.com/office/drawing/2014/main" id="{51823341-80BB-45D1-9B58-DD12700A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178272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0,2565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6" name="Tabela de modos de classificação r1c3">
            <a:extLst xmlns:a="http://schemas.openxmlformats.org/drawingml/2006/main">
              <a:ext uri="{FF2B5EF4-FFF2-40B4-BE49-F238E27FC236}">
                <a16:creationId xmlns:a16="http://schemas.microsoft.com/office/drawing/2014/main" id="{F4C68BF9-B331-4069-813C-42742D7D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178272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27,447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7" name="Tabela de modos de classificação r1c4">
            <a:extLst xmlns:a="http://schemas.openxmlformats.org/drawingml/2006/main">
              <a:ext uri="{FF2B5EF4-FFF2-40B4-BE49-F238E27FC236}">
                <a16:creationId xmlns:a16="http://schemas.microsoft.com/office/drawing/2014/main" id="{6C5A57F5-D9CE-4552-BE4D-52372F69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20" y="1782720"/>
            <a:ext cx="163800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11,50%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8" name="Tabela de modos de classificação r2c0">
            <a:extLst xmlns:a="http://schemas.openxmlformats.org/drawingml/2006/main">
              <a:ext uri="{FF2B5EF4-FFF2-40B4-BE49-F238E27FC236}">
                <a16:creationId xmlns:a16="http://schemas.microsoft.com/office/drawing/2014/main" id="{4958B6E7-5359-4A0E-9CAC-3DD1C38D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125800"/>
            <a:ext cx="274284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Média Ponderada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9" name="Tabela de modos de classificação r2c1">
            <a:extLst xmlns:a="http://schemas.openxmlformats.org/drawingml/2006/main">
              <a:ext uri="{FF2B5EF4-FFF2-40B4-BE49-F238E27FC236}">
                <a16:creationId xmlns:a16="http://schemas.microsoft.com/office/drawing/2014/main" id="{69684173-4010-4425-B9DA-F8AA253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20" y="2125800"/>
            <a:ext cx="76176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0,40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Tabela de modos de classificação r2c2">
            <a:extLst xmlns:a="http://schemas.openxmlformats.org/drawingml/2006/main">
              <a:ext uri="{FF2B5EF4-FFF2-40B4-BE49-F238E27FC236}">
                <a16:creationId xmlns:a16="http://schemas.microsoft.com/office/drawing/2014/main" id="{DE153EAB-D421-4747-800A-9C18B7DA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212580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0,2550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1" name="Tabela de modos de classificação r2c3">
            <a:extLst xmlns:a="http://schemas.openxmlformats.org/drawingml/2006/main">
              <a:ext uri="{FF2B5EF4-FFF2-40B4-BE49-F238E27FC236}">
                <a16:creationId xmlns:a16="http://schemas.microsoft.com/office/drawing/2014/main" id="{021D5B8B-582B-4D91-93CA-A2FDE2E7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212580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27,240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2" name="Tabela de modos de classificação r2c4">
            <a:extLst xmlns:a="http://schemas.openxmlformats.org/drawingml/2006/main">
              <a:ext uri="{FF2B5EF4-FFF2-40B4-BE49-F238E27FC236}">
                <a16:creationId xmlns:a16="http://schemas.microsoft.com/office/drawing/2014/main" id="{E14FBB33-30CE-4696-AB6E-21DF283E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20" y="2125800"/>
            <a:ext cx="163800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14,08%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3" name="Tabela de modos de classificação r3c0">
            <a:extLst xmlns:a="http://schemas.openxmlformats.org/drawingml/2006/main">
              <a:ext uri="{FF2B5EF4-FFF2-40B4-BE49-F238E27FC236}">
                <a16:creationId xmlns:a16="http://schemas.microsoft.com/office/drawing/2014/main" id="{B510350A-BA75-44DB-80A7-BE524FC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468520"/>
            <a:ext cx="274284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Mediana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4" name="Tabela de modos de classificação r3c1">
            <a:extLst xmlns:a="http://schemas.openxmlformats.org/drawingml/2006/main">
              <a:ext uri="{FF2B5EF4-FFF2-40B4-BE49-F238E27FC236}">
                <a16:creationId xmlns:a16="http://schemas.microsoft.com/office/drawing/2014/main" id="{ECB90611-60D0-4E0F-9EA1-9A68834E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20" y="2468520"/>
            <a:ext cx="76176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0,35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5" name="Tabela de modos de classificação r3c2">
            <a:extLst xmlns:a="http://schemas.openxmlformats.org/drawingml/2006/main">
              <a:ext uri="{FF2B5EF4-FFF2-40B4-BE49-F238E27FC236}">
                <a16:creationId xmlns:a16="http://schemas.microsoft.com/office/drawing/2014/main" id="{720AA40A-4802-4E40-B4C2-00B64C5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246852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0,2532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Tabela de modos de classificação r3c3">
            <a:extLst xmlns:a="http://schemas.openxmlformats.org/drawingml/2006/main">
              <a:ext uri="{FF2B5EF4-FFF2-40B4-BE49-F238E27FC236}">
                <a16:creationId xmlns:a16="http://schemas.microsoft.com/office/drawing/2014/main" id="{4423A2C8-6A1D-4A6E-8A8C-F776C758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246852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27,235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7" name="Tabela de modos de classificação r3c4">
            <a:extLst xmlns:a="http://schemas.openxmlformats.org/drawingml/2006/main">
              <a:ext uri="{FF2B5EF4-FFF2-40B4-BE49-F238E27FC236}">
                <a16:creationId xmlns:a16="http://schemas.microsoft.com/office/drawing/2014/main" id="{4A93DE66-142C-49E7-BEE9-D7690C8B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20" y="2468520"/>
            <a:ext cx="163800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14,16%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8" name="Tabela de modos de classificação r4c0">
            <a:extLst xmlns:a="http://schemas.openxmlformats.org/drawingml/2006/main">
              <a:ext uri="{FF2B5EF4-FFF2-40B4-BE49-F238E27FC236}">
                <a16:creationId xmlns:a16="http://schemas.microsoft.com/office/drawing/2014/main" id="{730D5D6B-89F4-4717-BE28-CF66EABA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811600"/>
            <a:ext cx="274284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Mínimo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9" name="Tabela de modos de classificação r4c1">
            <a:extLst xmlns:a="http://schemas.openxmlformats.org/drawingml/2006/main">
              <a:ext uri="{FF2B5EF4-FFF2-40B4-BE49-F238E27FC236}">
                <a16:creationId xmlns:a16="http://schemas.microsoft.com/office/drawing/2014/main" id="{D1C0AB80-A10E-48F0-9814-5E82168A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20" y="2811600"/>
            <a:ext cx="76176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0" name="Tabela de modos de classificação r4c2">
            <a:extLst xmlns:a="http://schemas.openxmlformats.org/drawingml/2006/main">
              <a:ext uri="{FF2B5EF4-FFF2-40B4-BE49-F238E27FC236}">
                <a16:creationId xmlns:a16="http://schemas.microsoft.com/office/drawing/2014/main" id="{F75BF678-F213-4396-91AD-04E2BFA7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040" y="281160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0,2572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1" name="Tabela de modos de classificação r4c3">
            <a:extLst xmlns:a="http://schemas.openxmlformats.org/drawingml/2006/main">
              <a:ext uri="{FF2B5EF4-FFF2-40B4-BE49-F238E27FC236}">
                <a16:creationId xmlns:a16="http://schemas.microsoft.com/office/drawing/2014/main" id="{B58E460A-2C95-45DD-B96D-BFFAD427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80" y="2811600"/>
            <a:ext cx="133308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27,633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Tabela de modos de classificação r4c4">
            <a:extLst xmlns:a="http://schemas.openxmlformats.org/drawingml/2006/main">
              <a:ext uri="{FF2B5EF4-FFF2-40B4-BE49-F238E27FC236}">
                <a16:creationId xmlns:a16="http://schemas.microsoft.com/office/drawing/2014/main" id="{E0C6307A-C4C7-479E-BB43-FA5DF14B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20" y="2811600"/>
            <a:ext cx="1638000" cy="342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9,18%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97982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3" name="Título da seção">
            <a:extLst xmlns:a="http://schemas.openxmlformats.org/drawingml/2006/main">
              <a:ext uri="{FF2B5EF4-FFF2-40B4-BE49-F238E27FC236}">
                <a16:creationId xmlns:a16="http://schemas.microsoft.com/office/drawing/2014/main" id="{4FD9EBB4-B7CE-4EA5-B23F-ADDC8F0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840" cy="39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B9E9B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4" name="Subtítulo">
            <a:extLst xmlns:a="http://schemas.openxmlformats.org/drawingml/2006/main">
              <a:ext uri="{FF2B5EF4-FFF2-40B4-BE49-F238E27FC236}">
                <a16:creationId xmlns:a16="http://schemas.microsoft.com/office/drawing/2014/main" id="{0895E63C-9152-4EAB-AA6B-2D29D517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360" cy="28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Efeito do limiar τ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5" name="Contexto">
            <a:extLst xmlns:a="http://schemas.openxmlformats.org/drawingml/2006/main">
              <a:ext uri="{FF2B5EF4-FFF2-40B4-BE49-F238E27FC236}">
                <a16:creationId xmlns:a16="http://schemas.microsoft.com/office/drawing/2014/main" id="{D0876811-B952-4BB8-9A8E-00B594C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80" y="3713040"/>
            <a:ext cx="7047720" cy="246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2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Média Ponderada · 2B · camada 61 · calibração</a:t>
            </a:r>
            <a:endParaRPr sz="132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6" name="Número da página">
            <a:extLst xmlns:a="http://schemas.openxmlformats.org/drawingml/2006/main">
              <a:ext uri="{FF2B5EF4-FFF2-40B4-BE49-F238E27FC236}">
                <a16:creationId xmlns:a16="http://schemas.microsoft.com/office/drawing/2014/main" id="{64DF4E22-EB79-404E-B552-2D662CC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880" cy="38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7" name="Texto destaque AP por GMAC">
            <a:extLst xmlns:a="http://schemas.openxmlformats.org/drawingml/2006/main">
              <a:ext uri="{FF2B5EF4-FFF2-40B4-BE49-F238E27FC236}">
                <a16:creationId xmlns:a16="http://schemas.microsoft.com/office/drawing/2014/main" id="{DA54B5E7-A297-4303-91A7-A7F9A68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400" y="4191120"/>
            <a:ext cx="6666840" cy="23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Tabela do efeito do limiar r0c0">
            <a:extLst xmlns:a="http://schemas.openxmlformats.org/drawingml/2006/main">
              <a:ext uri="{FF2B5EF4-FFF2-40B4-BE49-F238E27FC236}">
                <a16:creationId xmlns:a16="http://schemas.microsoft.com/office/drawing/2014/main" id="{57F85DCE-7CA0-4AC6-90F7-8CBFD3FF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47744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τ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9" name="Tabela do efeito do limiar r0c1">
            <a:extLst xmlns:a="http://schemas.openxmlformats.org/drawingml/2006/main">
              <a:ext uri="{FF2B5EF4-FFF2-40B4-BE49-F238E27FC236}">
                <a16:creationId xmlns:a16="http://schemas.microsoft.com/office/drawing/2014/main" id="{2386E375-7229-4B7F-8C29-CB726366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147744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COCO AP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0" name="Tabela do efeito do limiar r0c2">
            <a:extLst xmlns:a="http://schemas.openxmlformats.org/drawingml/2006/main">
              <a:ext uri="{FF2B5EF4-FFF2-40B4-BE49-F238E27FC236}">
                <a16:creationId xmlns:a16="http://schemas.microsoft.com/office/drawing/2014/main" id="{34C88852-A618-4847-96FD-E4E4558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147744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1" name="Tabela do efeito do limiar r0c3">
            <a:extLst xmlns:a="http://schemas.openxmlformats.org/drawingml/2006/main">
              <a:ext uri="{FF2B5EF4-FFF2-40B4-BE49-F238E27FC236}">
                <a16:creationId xmlns:a16="http://schemas.microsoft.com/office/drawing/2014/main" id="{5666120E-A53D-4638-8DF3-25B7FE31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7744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% EE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2" name="Tabela do efeito do limiar r0c4">
            <a:extLst xmlns:a="http://schemas.openxmlformats.org/drawingml/2006/main">
              <a:ext uri="{FF2B5EF4-FFF2-40B4-BE49-F238E27FC236}">
                <a16:creationId xmlns:a16="http://schemas.microsoft.com/office/drawing/2014/main" id="{0259FE67-D55C-49A1-8B1E-B6CA7307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147744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preservado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3" name="Tabela do efeito do limiar r0c5">
            <a:extLst xmlns:a="http://schemas.openxmlformats.org/drawingml/2006/main">
              <a:ext uri="{FF2B5EF4-FFF2-40B4-BE49-F238E27FC236}">
                <a16:creationId xmlns:a16="http://schemas.microsoft.com/office/drawing/2014/main" id="{5A737AF2-40AE-498D-9AA1-C3DDCAF5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147744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AP/GMAC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4" name="Tabela do efeito do limiar r1c0">
            <a:extLst xmlns:a="http://schemas.openxmlformats.org/drawingml/2006/main">
              <a:ext uri="{FF2B5EF4-FFF2-40B4-BE49-F238E27FC236}">
                <a16:creationId xmlns:a16="http://schemas.microsoft.com/office/drawing/2014/main" id="{7A306952-D6E1-4B8E-8DD5-ADD7EF94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175500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5" name="Tabela do efeito do limiar r1c1">
            <a:extLst xmlns:a="http://schemas.openxmlformats.org/drawingml/2006/main">
              <a:ext uri="{FF2B5EF4-FFF2-40B4-BE49-F238E27FC236}">
                <a16:creationId xmlns:a16="http://schemas.microsoft.com/office/drawing/2014/main" id="{121FE454-FCE2-408E-9F55-693B8D25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175500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0,2049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6" name="Tabela do efeito do limiar r1c2">
            <a:extLst xmlns:a="http://schemas.openxmlformats.org/drawingml/2006/main">
              <a:ext uri="{FF2B5EF4-FFF2-40B4-BE49-F238E27FC236}">
                <a16:creationId xmlns:a16="http://schemas.microsoft.com/office/drawing/2014/main" id="{0C88BC96-E41C-4889-8380-809F8D27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175500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23,221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7" name="Tabela do efeito do limiar r1c3">
            <a:extLst xmlns:a="http://schemas.openxmlformats.org/drawingml/2006/main">
              <a:ext uri="{FF2B5EF4-FFF2-40B4-BE49-F238E27FC236}">
                <a16:creationId xmlns:a16="http://schemas.microsoft.com/office/drawing/2014/main" id="{8ED45AE6-8CE3-4F2E-B615-24092B59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500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64,70%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8" name="Tabela do efeito do limiar r1c4">
            <a:extLst xmlns:a="http://schemas.openxmlformats.org/drawingml/2006/main">
              <a:ext uri="{FF2B5EF4-FFF2-40B4-BE49-F238E27FC236}">
                <a16:creationId xmlns:a16="http://schemas.microsoft.com/office/drawing/2014/main" id="{7A0AC075-C068-45A4-AAB9-2D8717CD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175500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78,16%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9" name="Tabela do efeito do limiar r1c5">
            <a:extLst xmlns:a="http://schemas.openxmlformats.org/drawingml/2006/main">
              <a:ext uri="{FF2B5EF4-FFF2-40B4-BE49-F238E27FC236}">
                <a16:creationId xmlns:a16="http://schemas.microsoft.com/office/drawing/2014/main" id="{4E5399CC-A93F-4750-A977-59C93A63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175500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0,008826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Tabela do efeito do limiar r2c0">
            <a:extLst xmlns:a="http://schemas.openxmlformats.org/drawingml/2006/main">
              <a:ext uri="{FF2B5EF4-FFF2-40B4-BE49-F238E27FC236}">
                <a16:creationId xmlns:a16="http://schemas.microsoft.com/office/drawing/2014/main" id="{1F243598-09CB-42BF-ABF0-20D38B6C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03256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0,30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Tabela do efeito do limiar r2c1">
            <a:extLst xmlns:a="http://schemas.openxmlformats.org/drawingml/2006/main">
              <a:ext uri="{FF2B5EF4-FFF2-40B4-BE49-F238E27FC236}">
                <a16:creationId xmlns:a16="http://schemas.microsoft.com/office/drawing/2014/main" id="{CD6A8183-8042-47A1-AB66-C32F07B9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203256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0,2385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Tabela do efeito do limiar r2c2">
            <a:extLst xmlns:a="http://schemas.openxmlformats.org/drawingml/2006/main">
              <a:ext uri="{FF2B5EF4-FFF2-40B4-BE49-F238E27FC236}">
                <a16:creationId xmlns:a16="http://schemas.microsoft.com/office/drawing/2014/main" id="{4F75321D-67FB-4608-AEC5-4972D1B0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203256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25,822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" name="Tabela do efeito do limiar r2c3">
            <a:extLst xmlns:a="http://schemas.openxmlformats.org/drawingml/2006/main">
              <a:ext uri="{FF2B5EF4-FFF2-40B4-BE49-F238E27FC236}">
                <a16:creationId xmlns:a16="http://schemas.microsoft.com/office/drawing/2014/main" id="{FCC36DEF-A4EA-4D3E-946C-DDBB168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3256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31,88%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Tabela do efeito do limiar r2c4">
            <a:extLst xmlns:a="http://schemas.openxmlformats.org/drawingml/2006/main">
              <a:ext uri="{FF2B5EF4-FFF2-40B4-BE49-F238E27FC236}">
                <a16:creationId xmlns:a16="http://schemas.microsoft.com/office/drawing/2014/main" id="{C1D01B7A-AA1A-422D-9C53-11E63201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203256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90,96%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Tabela do efeito do limiar r2c5">
            <a:extLst xmlns:a="http://schemas.openxmlformats.org/drawingml/2006/main">
              <a:ext uri="{FF2B5EF4-FFF2-40B4-BE49-F238E27FC236}">
                <a16:creationId xmlns:a16="http://schemas.microsoft.com/office/drawing/2014/main" id="{CAFD8D83-EE94-4A53-9256-1C90FACB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203256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0,009236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Tabela do efeito do limiar r3c0">
            <a:extLst xmlns:a="http://schemas.openxmlformats.org/drawingml/2006/main">
              <a:ext uri="{FF2B5EF4-FFF2-40B4-BE49-F238E27FC236}">
                <a16:creationId xmlns:a16="http://schemas.microsoft.com/office/drawing/2014/main" id="{99FFEBD1-05C8-4CC9-92FE-488804B4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31012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0,35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7" name="Tabela do efeito do limiar r3c1">
            <a:extLst xmlns:a="http://schemas.openxmlformats.org/drawingml/2006/main">
              <a:ext uri="{FF2B5EF4-FFF2-40B4-BE49-F238E27FC236}">
                <a16:creationId xmlns:a16="http://schemas.microsoft.com/office/drawing/2014/main" id="{CE9C66EE-1228-4D57-BC41-CBA4D1E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231012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0,2498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8" name="Tabela do efeito do limiar r3c2">
            <a:extLst xmlns:a="http://schemas.openxmlformats.org/drawingml/2006/main">
              <a:ext uri="{FF2B5EF4-FFF2-40B4-BE49-F238E27FC236}">
                <a16:creationId xmlns:a16="http://schemas.microsoft.com/office/drawing/2014/main" id="{9108BBFB-D6C3-468C-A4D7-F134DA1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231012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26,713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9" name="Tabela do efeito do limiar r3c3">
            <a:extLst xmlns:a="http://schemas.openxmlformats.org/drawingml/2006/main">
              <a:ext uri="{FF2B5EF4-FFF2-40B4-BE49-F238E27FC236}">
                <a16:creationId xmlns:a16="http://schemas.microsoft.com/office/drawing/2014/main" id="{9F0DBACD-22A1-4C93-8A55-4A573A5A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1012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20,68%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" name="Tabela do efeito do limiar r3c4">
            <a:extLst xmlns:a="http://schemas.openxmlformats.org/drawingml/2006/main">
              <a:ext uri="{FF2B5EF4-FFF2-40B4-BE49-F238E27FC236}">
                <a16:creationId xmlns:a16="http://schemas.microsoft.com/office/drawing/2014/main" id="{079EEAE8-0A3D-40D0-9EE0-1FD245A0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231012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95,27%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1" name="Tabela do efeito do limiar r3c5">
            <a:extLst xmlns:a="http://schemas.openxmlformats.org/drawingml/2006/main">
              <a:ext uri="{FF2B5EF4-FFF2-40B4-BE49-F238E27FC236}">
                <a16:creationId xmlns:a16="http://schemas.microsoft.com/office/drawing/2014/main" id="{253FC3C3-EC50-429E-B41A-9F2D80D7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231012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0,009352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2" name="Tabela do efeito do limiar r4c0">
            <a:extLst xmlns:a="http://schemas.openxmlformats.org/drawingml/2006/main">
              <a:ext uri="{FF2B5EF4-FFF2-40B4-BE49-F238E27FC236}">
                <a16:creationId xmlns:a16="http://schemas.microsoft.com/office/drawing/2014/main" id="{0222917C-7E9C-4B73-A33B-7B2A4AD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58768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0,40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3" name="Tabela do efeito do limiar r4c1">
            <a:extLst xmlns:a="http://schemas.openxmlformats.org/drawingml/2006/main">
              <a:ext uri="{FF2B5EF4-FFF2-40B4-BE49-F238E27FC236}">
                <a16:creationId xmlns:a16="http://schemas.microsoft.com/office/drawing/2014/main" id="{EE457829-FAA0-423A-921A-1122278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258768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0,2550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4" name="Tabela do efeito do limiar r4c2">
            <a:extLst xmlns:a="http://schemas.openxmlformats.org/drawingml/2006/main">
              <a:ext uri="{FF2B5EF4-FFF2-40B4-BE49-F238E27FC236}">
                <a16:creationId xmlns:a16="http://schemas.microsoft.com/office/drawing/2014/main" id="{CC32197C-95BF-4FC9-A518-0BF8F2B8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258768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27,240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5" name="Tabela do efeito do limiar r4c3">
            <a:extLst xmlns:a="http://schemas.openxmlformats.org/drawingml/2006/main">
              <a:ext uri="{FF2B5EF4-FFF2-40B4-BE49-F238E27FC236}">
                <a16:creationId xmlns:a16="http://schemas.microsoft.com/office/drawing/2014/main" id="{DF94D0D8-30E5-4F7A-A426-6B5A01BA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8768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14,08%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6" name="Tabela do efeito do limiar r4c4">
            <a:extLst xmlns:a="http://schemas.openxmlformats.org/drawingml/2006/main">
              <a:ext uri="{FF2B5EF4-FFF2-40B4-BE49-F238E27FC236}">
                <a16:creationId xmlns:a16="http://schemas.microsoft.com/office/drawing/2014/main" id="{128DD366-C64E-4BB3-87B9-88D4124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258768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97,24%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7" name="Tabela do efeito do limiar r4c5">
            <a:extLst xmlns:a="http://schemas.openxmlformats.org/drawingml/2006/main">
              <a:ext uri="{FF2B5EF4-FFF2-40B4-BE49-F238E27FC236}">
                <a16:creationId xmlns:a16="http://schemas.microsoft.com/office/drawing/2014/main" id="{834E13C8-23C0-4481-B31A-D48F83D9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258768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0,009360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8" name="Tabela do efeito do limiar r5c0">
            <a:extLst xmlns:a="http://schemas.openxmlformats.org/drawingml/2006/main">
              <a:ext uri="{FF2B5EF4-FFF2-40B4-BE49-F238E27FC236}">
                <a16:creationId xmlns:a16="http://schemas.microsoft.com/office/drawing/2014/main" id="{27F1448B-31BF-4902-8D2A-931680FF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286524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0,45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9" name="Tabela do efeito do limiar r5c1">
            <a:extLst xmlns:a="http://schemas.openxmlformats.org/drawingml/2006/main">
              <a:ext uri="{FF2B5EF4-FFF2-40B4-BE49-F238E27FC236}">
                <a16:creationId xmlns:a16="http://schemas.microsoft.com/office/drawing/2014/main" id="{6D002EE5-7401-4DC3-98D4-400A1245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286524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0,2585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0" name="Tabela do efeito do limiar r5c2">
            <a:extLst xmlns:a="http://schemas.openxmlformats.org/drawingml/2006/main">
              <a:ext uri="{FF2B5EF4-FFF2-40B4-BE49-F238E27FC236}">
                <a16:creationId xmlns:a16="http://schemas.microsoft.com/office/drawing/2014/main" id="{B63FB800-3132-42A7-85DF-FC0A566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286524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27,635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1" name="Tabela do efeito do limiar r5c3">
            <a:extLst xmlns:a="http://schemas.openxmlformats.org/drawingml/2006/main">
              <a:ext uri="{FF2B5EF4-FFF2-40B4-BE49-F238E27FC236}">
                <a16:creationId xmlns:a16="http://schemas.microsoft.com/office/drawing/2014/main" id="{DEB33145-726E-4BA7-973C-57DD9870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6524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9,14%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2" name="Tabela do efeito do limiar r5c4">
            <a:extLst xmlns:a="http://schemas.openxmlformats.org/drawingml/2006/main">
              <a:ext uri="{FF2B5EF4-FFF2-40B4-BE49-F238E27FC236}">
                <a16:creationId xmlns:a16="http://schemas.microsoft.com/office/drawing/2014/main" id="{45753D29-81C1-4221-9C45-35CBFFEC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286524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98,60%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3" name="Tabela do efeito do limiar r5c5">
            <a:extLst xmlns:a="http://schemas.openxmlformats.org/drawingml/2006/main">
              <a:ext uri="{FF2B5EF4-FFF2-40B4-BE49-F238E27FC236}">
                <a16:creationId xmlns:a16="http://schemas.microsoft.com/office/drawing/2014/main" id="{245C454F-3434-4BE0-8E82-6D402F3A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286524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0,009355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4" name="Tabela do efeito do limiar r6c0">
            <a:extLst xmlns:a="http://schemas.openxmlformats.org/drawingml/2006/main">
              <a:ext uri="{FF2B5EF4-FFF2-40B4-BE49-F238E27FC236}">
                <a16:creationId xmlns:a16="http://schemas.microsoft.com/office/drawing/2014/main" id="{D8A2F701-CF00-4301-9272-99A95DB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142800"/>
            <a:ext cx="68544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0,50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5" name="Tabela do efeito do limiar r6c1">
            <a:extLst xmlns:a="http://schemas.openxmlformats.org/drawingml/2006/main">
              <a:ext uri="{FF2B5EF4-FFF2-40B4-BE49-F238E27FC236}">
                <a16:creationId xmlns:a16="http://schemas.microsoft.com/office/drawing/2014/main" id="{3049206E-20A3-4EE6-BA2E-FE7970A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60" y="3142800"/>
            <a:ext cx="12189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0,2601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6" name="Tabela do efeito do limiar r6c2">
            <a:extLst xmlns:a="http://schemas.openxmlformats.org/drawingml/2006/main">
              <a:ext uri="{FF2B5EF4-FFF2-40B4-BE49-F238E27FC236}">
                <a16:creationId xmlns:a16="http://schemas.microsoft.com/office/drawing/2014/main" id="{20E01F2C-B7F8-4BC4-AF9A-5961FE2F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80" y="314280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27,830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7" name="Tabela do efeito do limiar r6c3">
            <a:extLst xmlns:a="http://schemas.openxmlformats.org/drawingml/2006/main">
              <a:ext uri="{FF2B5EF4-FFF2-40B4-BE49-F238E27FC236}">
                <a16:creationId xmlns:a16="http://schemas.microsoft.com/office/drawing/2014/main" id="{4B87E8AA-A41D-4D6B-897A-F1749D77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42800"/>
            <a:ext cx="112356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6,70%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8" name="Tabela do efeito do limiar r6c4">
            <a:extLst xmlns:a="http://schemas.openxmlformats.org/drawingml/2006/main">
              <a:ext uri="{FF2B5EF4-FFF2-40B4-BE49-F238E27FC236}">
                <a16:creationId xmlns:a16="http://schemas.microsoft.com/office/drawing/2014/main" id="{49E3A3AE-108A-4B53-9983-1DC5674D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20" y="3142800"/>
            <a:ext cx="142848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99,19%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9" name="Tabela do efeito do limiar r6c5">
            <a:extLst xmlns:a="http://schemas.openxmlformats.org/drawingml/2006/main">
              <a:ext uri="{FF2B5EF4-FFF2-40B4-BE49-F238E27FC236}">
                <a16:creationId xmlns:a16="http://schemas.microsoft.com/office/drawing/2014/main" id="{F79D5CE4-B5CD-461B-81D3-7A63FAE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60" y="3142800"/>
            <a:ext cx="184752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6"/>
          </a:solidFill>
          <a:ln xmlns:a="http://schemas.openxmlformats.org/drawingml/2006/main" w="9525">
            <a:solidFill>
              <a:srgbClr val="D1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0" u="none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0,009346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41155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FC1F2E78-D771-45C7-B6DC-C4B5A633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ED03CEE-FED9-43AF-B9F0-CFE877DC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Early Exit com Média Ponderada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54B0B72E-E4EA-4297-9449-EB1C034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B74F5819-2444-4440-B3F5-3986D5F1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" y="1285920"/>
            <a:ext cx="80856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8C83084-8CAE-4F8D-8629-8CCD7953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305000"/>
            <a:ext cx="71316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Modelo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8A2293D7-D087-4171-B607-D1DC779F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92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AA77DCA7-5206-4265-873A-D5612526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0" y="130500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AdaCon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982F3369-34EB-4043-ADBD-83C3053E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128592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BDDC9B2-E613-4552-A980-9EF434ED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130500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com EE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DE02B92-B4E0-47B4-BA11-3C1F1A9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1285920"/>
            <a:ext cx="118944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863DD484-663C-4513-BC2C-B1A4DC19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080" y="1305000"/>
            <a:ext cx="10944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preservado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893FB771-A662-4CD9-BE23-7376B364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80" y="12859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D2D35F64-39ED-4EFB-A1F5-FA445582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13050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 AdaCon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F602FAD8-6098-4F05-A198-B1B3D2C3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12859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079AD1A-EE78-42F5-BEF8-94F467B5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080" y="13050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 com EE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AFC74175-E606-4F9A-B823-A283E99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12859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A83400F7-713A-4C77-BD06-9901273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13050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Redução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7F5CB93D-3179-44B9-9CE5-9801CDFB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60" y="12859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EC6B558-EC74-48A8-80D2-763666F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13050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% EE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8DC6D40-E6F3-4AFA-A6E8-66450C61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" y="1738440"/>
            <a:ext cx="80856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48785BFD-6F32-4059-9EE3-4AC67657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1757520"/>
            <a:ext cx="71316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2B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3D55B40-8DEB-479C-AF15-2C08C364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844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BA48BCE-314F-4E62-816C-C832381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0" y="175752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0,2546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6A7750E3-831A-4B66-91B5-5428CFC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173844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8AFFA1C8-99AF-4A15-8B48-A635BD5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175752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0,2491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3C610973-3B07-4B35-B510-48EC7F92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1738440"/>
            <a:ext cx="118944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6D7ECB7-56B9-49A0-9901-6C0556E8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080" y="1757520"/>
            <a:ext cx="10944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97,83%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F12005FA-5696-45AB-B321-C98CCE23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80" y="173844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A6EC99F-757D-4B0C-8F75-FA55A454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175752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28,039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01848B8-3F44-4EE4-A83C-0E085C1E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173844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973B84B4-A6DD-4328-A99B-529FBE6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080" y="175752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27,187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08D35E3C-9D65-4C9E-B8AA-6937C7D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173844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0D1A260E-26E8-49C1-A67A-467DB733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175752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3,04%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9B3257F-A1E1-451B-B9A7-DEBF9445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60" y="173844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10BEA742-1F3F-463E-931C-5FA136DE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175752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14,00%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B0262A9F-D107-43C6-B962-45414F86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" y="2190600"/>
            <a:ext cx="80856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6567991E-6EC3-4A18-A134-75898CA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2209680"/>
            <a:ext cx="71316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3B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D8B9F8E4-6192-40B2-9759-40191CC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60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089C23F5-31FA-4F8F-BB11-5C42262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0" y="220968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0,2331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4EA4A26F-0A30-46E6-83AD-3F01B353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219060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969E2977-8245-4D0E-B37B-6190EA39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220968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0,2278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9D0235A-A1AC-4599-8D8F-E8E82D81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2190600"/>
            <a:ext cx="118944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31DDE85C-9D63-48CC-9263-C7110620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080" y="2209680"/>
            <a:ext cx="10944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97,73%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B117002-811D-4B7D-A16C-20A0A588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80" y="219060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1023979-66DE-4148-9914-55ACEFC4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20968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27,169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2234F969-82C6-46B3-A6A1-1476BEA2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219060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7751A59-AEF3-44CE-A243-817C60A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080" y="220968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25,952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EEEC326-71E1-42F3-847B-7580F6EC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219060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470A959A-C4E1-4E0A-B5B8-D9D1D995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220968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4,48%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80B418C-8930-4783-BD8C-E7739991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60" y="219060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FAC425A-C595-4948-B243-D4465FDD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20968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20,94%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BC5565B-9FAD-4A0E-9230-BA7B834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0" y="2643120"/>
            <a:ext cx="80856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38DCEFB3-0675-4AF0-A2C3-75F96828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80" y="2662200"/>
            <a:ext cx="71316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4B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6C41D87A-9932-4DB8-8F61-B733FB65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312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4F561B2-BB27-42A0-BD2B-C8399636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0" y="266220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0,2268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7B6A9296-5EC4-40FA-A36F-846926E7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600" y="2643120"/>
            <a:ext cx="104652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DE059581-2841-4FF3-B613-0BF4F6E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80" y="2662200"/>
            <a:ext cx="95148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0,2217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58606918-8E41-4231-AE9A-7099C471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60" y="2643120"/>
            <a:ext cx="118944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9BBE078A-6DED-4872-A693-C955A70E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080" y="2662200"/>
            <a:ext cx="10944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97,74%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04B4B3CC-6D9E-4143-86EA-385BDE9E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080" y="26431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71E4FAB7-D09E-4FEF-80FC-0DB85FF9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6622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26,735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3A8DB1B0-81CC-4BD5-983C-341C8CE7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60" y="26431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F101E2B5-3981-45CF-BD28-0115A1F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080" y="26622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25,610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D1E13B7-2BF9-460F-B000-8329C12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26431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D81A0A8-E3EC-45DB-8ECA-6C729211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26622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4,21%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CAEABAC-4510-4D80-81B9-9D3F5FBD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160" y="2643120"/>
            <a:ext cx="1094400" cy="45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E41ED978-1455-49AD-AB06-9B9E879A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662200"/>
            <a:ext cx="999000" cy="4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20,94%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506851CC-A99C-410A-A75E-55FCE28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0" y="3381480"/>
            <a:ext cx="7237800" cy="265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Modo: Média Ponderada. Limiar: τ = 0,40 no 2B e τ = 0,35 no 3B e 4B.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F7985F2E-C709-45BE-A0BD-A424ACFD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60" y="3905280"/>
            <a:ext cx="2094480" cy="570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99794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CAB48511-32C7-4E1E-9C62-ECC1818C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80" y="3981600"/>
            <a:ext cx="1942200" cy="27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599794"/>
                </a:solidFill>
                <a:latin typeface="Arial Narrow"/>
                <a:ea typeface="Arial Narrow"/>
                <a:cs typeface="Arial Narrow"/>
              </a:rPr>
              <a:t>2B + EE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860876D3-ECD4-4EEE-9CFE-8B4CDCD0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80" y="4213800"/>
            <a:ext cx="1942200" cy="1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maior AP final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8D7402C1-F752-4C0D-8D2A-44A7E33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400" y="3905280"/>
            <a:ext cx="2094480" cy="570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1395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B381FE5E-37BC-4B52-B3A8-5E4C8BFD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360" y="3981600"/>
            <a:ext cx="1942200" cy="27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3B + EE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0FAE2F04-92CF-4A66-B5C6-11A6880E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360" y="4213800"/>
            <a:ext cx="1942200" cy="1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maior redução relativa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68BBC08-1DE5-4B46-9C97-2EAF7CB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80" y="3905280"/>
            <a:ext cx="2094480" cy="5706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69F5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E5242250-3FD8-4F39-949B-DC8C5FDA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600" y="3981600"/>
            <a:ext cx="1942200" cy="27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625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250" b="1" u="none">
                <a:solidFill>
                  <a:srgbClr val="E69F55"/>
                </a:solidFill>
                <a:latin typeface="Arial Narrow"/>
                <a:ea typeface="Arial Narrow"/>
                <a:cs typeface="Arial Narrow"/>
              </a:rPr>
              <a:t>4B + EE</a:t>
            </a:r>
            <a:endParaRPr sz="2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400AF28B-BF6E-4B1B-BD6E-D7619E4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600" y="4213800"/>
            <a:ext cx="1942200" cy="18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70000" lnSpcReduction="1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menor GMAC absoluto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20733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05796D02-10DC-46D6-9607-791C4D7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2A78D909-4B65-43C5-9AC4-639C333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Escolha da configuração final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BAAB997-9313-4261-8C9C-A148DBE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C47641A6-DB15-4C7D-9289-A2807AA4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285920"/>
            <a:ext cx="180864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72DBF35D-D998-468D-B0ED-07202B00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305000"/>
            <a:ext cx="171360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Prioridade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9C4565A0-9304-44A7-91CF-DA3E99F1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40" y="1285920"/>
            <a:ext cx="16657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1B4AA13A-6D74-4D27-B3FE-668F18F3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60" y="1305000"/>
            <a:ext cx="157068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Escolha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0686160D-D471-4C0B-B0BE-54772264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40" y="128592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37F65BC8-5E3C-44E5-A206-77D61D5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120" y="130500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COCO AP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E636D95E-6AFC-496A-8230-5D47FB12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128592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82A9AEDA-8CA0-43BE-8008-25C14233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130500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B61D10DC-A3F9-4D96-AC5D-D5806409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1285920"/>
            <a:ext cx="185616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EB24DADD-EDBA-42B7-AA1D-9D3E531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1305000"/>
            <a:ext cx="17611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8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Variação vs. AdaCon</a:t>
            </a:r>
            <a:endParaRPr sz="128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761B8857-701A-4F56-BCEF-87D49792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750320"/>
            <a:ext cx="180864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F8AB1AF3-859A-4540-92C4-F5D5E46A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1769400"/>
            <a:ext cx="171360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Maior qualidade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0DA50890-3430-4920-8D8E-A1506EDC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40" y="1750320"/>
            <a:ext cx="16657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22D2833D-0B0E-4DF3-84D1-65039ED8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60" y="1769400"/>
            <a:ext cx="157068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2B + EE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F26AB80-E36F-46AA-91B8-4F2E016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40" y="175032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56F4A7A1-6345-4E10-BF4B-5727DD60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120" y="176940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0,2491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8DAA352C-8555-43AF-90EA-A1E5F772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175032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3445546F-F9EB-47C2-9972-B02E79D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176940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27,187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71A223DE-FD08-4211-AEA6-192212C9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1750320"/>
            <a:ext cx="185616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6A8982DF-1CE9-4F30-89E1-0E29A809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1769400"/>
            <a:ext cx="17611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−3,04% GMAC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30311C02-056D-443E-9BA1-AEE42258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214720"/>
            <a:ext cx="180864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1A26BEB0-8300-4570-8F05-E5743695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233440"/>
            <a:ext cx="171360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Maior economia relativa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4443C0A8-4937-435E-BEE1-6DC73B57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40" y="2214720"/>
            <a:ext cx="16657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F8B6D382-C507-43A3-91E8-986C017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60" y="2233440"/>
            <a:ext cx="157068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3B + EE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BAD45531-C92E-4908-85C6-770208BE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40" y="221472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C94F4A6D-AD39-4667-AFF3-E84021CF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120" y="223344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0,2278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FA18A8CC-8157-4A3A-B5CF-73431D86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221472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E186A52F-1E3B-4592-B08C-BFD01BE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223344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25,952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B1A220FA-C9E0-40AA-B697-9573CA99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2214720"/>
            <a:ext cx="185616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6CE705F9-1278-4A88-9E9D-A5E33018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2233440"/>
            <a:ext cx="17611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−4,48% GMAC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213B1FA1-5158-4007-AA87-18807239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678760"/>
            <a:ext cx="180864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26B3D147-B0BC-47F8-8F8C-1D2D45E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40" y="2697840"/>
            <a:ext cx="171360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Menor custo absoluto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7C1E0020-0C40-4302-AE77-69B874C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440" y="2678760"/>
            <a:ext cx="16657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83EC59AB-2269-4F6B-A87A-F08751CA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960" y="2697840"/>
            <a:ext cx="157068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4B + EE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D70DE941-76BD-469E-84EC-A4EBA989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40" y="267876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1C8C32A-D727-4AED-932A-1B1BF7C7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120" y="269784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0,2217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02BABB92-AB7C-49C0-921E-3DB1EC7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40" y="2678760"/>
            <a:ext cx="123732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868AF34F-4C39-4E19-8339-7093CC96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160" y="2697840"/>
            <a:ext cx="11419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25,610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66EDE669-0370-4CE5-B217-61252AC2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040" y="2678760"/>
            <a:ext cx="1856160" cy="46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ADCCED80-E5C5-4D6B-9DEC-0E069B8C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60" y="2697840"/>
            <a:ext cx="1761120" cy="425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−4,21% GMAC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23CD3B8D-A34A-44CB-904A-77D38AA3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80" y="3524400"/>
            <a:ext cx="6952320" cy="72288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216A06E5-D429-4771-8C84-5F894170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60" y="3638520"/>
            <a:ext cx="6380640" cy="494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lnSpcReduction="99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30" b="1" u="none">
                <a:solidFill>
                  <a:srgbClr val="233238"/>
                </a:solidFill>
                <a:latin typeface="Arial Narrow"/>
                <a:ea typeface="Arial Narrow"/>
                <a:cs typeface="Arial Narrow"/>
              </a:rPr>
              <a:t>Configuração recomendada: 2B + Saída Antecipada na camada 61, com Média Ponderada e τ = 0,40.</a:t>
            </a:r>
            <a:endParaRPr sz="14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95335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0698E462-356B-431E-95AD-0E914318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Resultados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9E186196-1170-413F-8B6B-160D9831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6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00" b="1" u="none">
                <a:solidFill>
                  <a:srgbClr val="51395E"/>
                </a:solidFill>
                <a:latin typeface="Arial Narrow"/>
                <a:ea typeface="Arial Narrow"/>
                <a:cs typeface="Arial Narrow"/>
              </a:rPr>
              <a:t>Classes mais e menos associadas à saída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E2A010F9-6C01-46C3-BFDD-50D1C924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2DE27295-4620-4913-B0D8-FB828CBD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320" y="1257480"/>
            <a:ext cx="670464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004FC078-C2D9-499B-BFEB-8BB58D6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1733400"/>
            <a:ext cx="25228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7B883AB1-23D5-4F87-85A9-AC57D51F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1752480"/>
            <a:ext cx="24278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Mais associadas à saída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1561A54B-38C7-4793-86E6-51CA27A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1733400"/>
            <a:ext cx="11894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117A8975-8477-49BC-BB8E-B0C39E16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40" y="1752480"/>
            <a:ext cx="109440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Saída (%)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F2C886A4-B0DB-40D8-88C0-210D0F68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048040"/>
            <a:ext cx="25228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90D7275B-F13F-462E-8404-96CAA13E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066760"/>
            <a:ext cx="24278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esquis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03826B8E-2537-4F46-BB5F-900103AB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2048040"/>
            <a:ext cx="11894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79CE5067-CB03-4D47-9EE5-357866BB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40" y="2066760"/>
            <a:ext cx="109440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45,00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65581330-9AA6-414B-8D94-4721E54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362320"/>
            <a:ext cx="25228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C7F27EC4-487B-4BC1-A40E-0711BF45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381400"/>
            <a:ext cx="24278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snowboard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C131FE49-D4F7-411A-B89D-0EB3F879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2362320"/>
            <a:ext cx="11894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394ADAC4-AB34-483C-AF0D-F269185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40" y="2381400"/>
            <a:ext cx="109440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42,86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ECCD41DD-5B89-4F88-9629-03D35F80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676600"/>
            <a:ext cx="25228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FC79AF6-C625-4C35-AE8A-CEC04285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2695680"/>
            <a:ext cx="24278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zebra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678058CE-89F3-407A-B4F2-00B863FF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2676600"/>
            <a:ext cx="11894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D643957D-B4A7-44B4-B719-92946E0C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40" y="2695680"/>
            <a:ext cx="109440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37,65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5FCB689B-652E-4B8A-8B5B-03937BA2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2990880"/>
            <a:ext cx="25228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4F062EBD-44D2-4BBF-9AC7-DEA476E9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3009960"/>
            <a:ext cx="24278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frisbee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F33DF14E-2C93-46D3-B95C-E616A800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2990880"/>
            <a:ext cx="11894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7A39531-DFD7-4995-B4FF-6B9C893D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40" y="3009960"/>
            <a:ext cx="109440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34,52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CCF37791-686C-4171-AC98-C27286B8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00" y="3305160"/>
            <a:ext cx="25228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DE1DA76-8C8B-47A4-9B0B-D6A46DB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3324240"/>
            <a:ext cx="24278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girafa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C76178A5-3DDA-4AC2-819A-F0315047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160" y="3305160"/>
            <a:ext cx="11894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EC4AA112-E936-4A09-9ED7-B0BF3DD8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040" y="3324240"/>
            <a:ext cx="109440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32,67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5726E5B8-C2DF-4D81-93A9-259362A1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1733400"/>
            <a:ext cx="19990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8F85481A-F511-4A21-83B9-4A7F8CE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1752480"/>
            <a:ext cx="19040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Classe nas saídas cedo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FAF5245-4C06-4CA9-BC6D-5063EFF4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1733400"/>
            <a:ext cx="9514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23ECBB6-15CC-4E34-809B-BC512687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480"/>
            <a:ext cx="85608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(%)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5FCCE569-AD7E-4BB4-BD42-B35FD38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1733400"/>
            <a:ext cx="7610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9794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3B839CD-1164-4A74-BCC1-11F835A5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1752480"/>
            <a:ext cx="6656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Perfil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7931D469-619D-41F3-B964-CD06F9D3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2048040"/>
            <a:ext cx="19990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B86023CB-FF7D-40DC-8B78-739F7EC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2066760"/>
            <a:ext cx="19040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laranja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AB6A6DF-1F40-4D24-A4DF-F3056ECA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2048040"/>
            <a:ext cx="9514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64B893E2-B8C2-4229-9E02-B6DD2B88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66760"/>
            <a:ext cx="85608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67,81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58BBCD10-C814-4CEA-A803-5B5FB6BC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048040"/>
            <a:ext cx="7610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4C44EFBC-3520-4AE9-AEE5-417384F3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066760"/>
            <a:ext cx="6656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fácil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E41A6E1C-94FB-4521-A188-296A0D2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2362320"/>
            <a:ext cx="19990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7AAE471-BC43-4F2A-907E-CE65301B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2381400"/>
            <a:ext cx="19040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rosquinha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D390BB8-F2B9-40D2-A13C-6A726872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2362320"/>
            <a:ext cx="9514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D6A55CE8-0306-4E59-AC7E-8D3350AA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400"/>
            <a:ext cx="85608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63,33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F9A072C2-E76D-4BE1-82D7-17CC9CF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362320"/>
            <a:ext cx="7610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36AF2686-639F-4E12-A5C1-CD3C12DA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381400"/>
            <a:ext cx="6656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fácil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566FC786-B785-431D-9842-EEE2A27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2676600"/>
            <a:ext cx="19990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C156F299-9FD3-4253-BD73-92E31DE4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2695680"/>
            <a:ext cx="19040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placa de pare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165AE96-8DA1-4FFA-9C58-E46CC50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2676600"/>
            <a:ext cx="9514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BE8C5862-ED4C-451E-9EF5-4AE85589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95680"/>
            <a:ext cx="85608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58,06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569D6DB-F9C8-46C2-B36E-4F963739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676600"/>
            <a:ext cx="7610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DA63288-3116-4488-B711-F2FEFDA0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2695680"/>
            <a:ext cx="6656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fácil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A8BEA9DA-3414-402C-B19A-337EB522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2990880"/>
            <a:ext cx="19990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226E933D-9647-4192-9EA0-2F167C92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3009960"/>
            <a:ext cx="19040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bolsa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CC3745CA-9C2C-4467-AE00-243B3E50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2990880"/>
            <a:ext cx="9514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B5761B7-8E84-4B81-B11E-31FEEE64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60"/>
            <a:ext cx="85608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1,28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A544010A-F3CC-47EE-B966-877F6E5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2990880"/>
            <a:ext cx="7610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71FA7A3-D4C4-4B70-9DD7-2C3D9903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3009960"/>
            <a:ext cx="6656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difícil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A18489DA-823F-4828-930D-BD293E07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3305160"/>
            <a:ext cx="19990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5418667E-3EB9-4D95-8CF3-84943A5D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840" y="3324240"/>
            <a:ext cx="19040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livro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5484CEC6-FEB2-4792-A9F7-E4D56FA5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480" y="3305160"/>
            <a:ext cx="95148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52C23CFC-4476-4D5A-8344-E5D4DA3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24240"/>
            <a:ext cx="85608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2,45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EDD9189-13FD-483D-BF06-01272A1B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040" y="3305160"/>
            <a:ext cx="761040" cy="3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B88DF1FC-C8A8-46B9-9487-0F4E6CC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60" y="3324240"/>
            <a:ext cx="665640" cy="27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3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difícil</a:t>
            </a:r>
            <a:endParaRPr sz="113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BEBABF7-5826-4271-A07A-20AB9F31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20" y="3838680"/>
            <a:ext cx="7809480" cy="70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• 700 imagens (14,00%) saíram cedo: 5,52 objetos e 2,42 classes por imagem; nas demais, 7,55 e 3,01.</a:t>
            </a:r>
            <a:endParaRPr sz="10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• Taxa alta de saída indica associação a cenas aceitas; não significa que a classe seja fácil.</a:t>
            </a:r>
            <a:endParaRPr sz="10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1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• Exemplo: esquis tiveram 45,00% de saída, mas AP de 4,67% no subconjunto antecipado.</a:t>
            </a:r>
            <a:endParaRPr sz="101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1095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ítulo">
            <a:extLst xmlns:a="http://schemas.openxmlformats.org/drawingml/2006/main">
              <a:ext uri="{FF2B5EF4-FFF2-40B4-BE49-F238E27FC236}">
                <a16:creationId xmlns:a16="http://schemas.microsoft.com/office/drawing/2014/main" id="{C3FEF007-E2F5-49E2-AB80-E44686AA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B9E9B"/>
                </a:solidFill>
                <a:latin typeface="Rockwell"/>
                <a:ea typeface="Rockwell"/>
                <a:cs typeface="Rockwell"/>
              </a:defRPr>
            </a:pPr>
            <a:r>
              <a:rPr sz="3000" b="1">
                <a:solidFill>
                  <a:srgbClr val="5B9E9B"/>
                </a:solidFill>
                <a:latin typeface="Rockwell"/>
                <a:ea typeface="Rockwell"/>
                <a:cs typeface="Rockwell"/>
              </a:rPr>
              <a:t>Resultados</a:t>
            </a:r>
          </a:p>
        </p:txBody>
      </p:sp>
      <p:sp>
        <p:nvSpPr>
          <p:cNvPr id="2" name="Subtítulo">
            <a:extLst xmlns:a="http://schemas.openxmlformats.org/drawingml/2006/main">
              <a:ext uri="{FF2B5EF4-FFF2-40B4-BE49-F238E27FC236}">
                <a16:creationId xmlns:a16="http://schemas.microsoft.com/office/drawing/2014/main" id="{57D53DE0-F72D-413C-8CE4-3BE4C6C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3B67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573B67"/>
                </a:solidFill>
                <a:latin typeface="Arial Narrow"/>
                <a:ea typeface="Arial Narrow"/>
                <a:cs typeface="Arial Narrow"/>
              </a:rPr>
              <a:t>AdaCon com e sem saída antecipada</a:t>
            </a:r>
          </a:p>
        </p:txBody>
      </p:sp>
      <p:sp>
        <p:nvSpPr>
          <p:cNvPr id="3" name="Número da página">
            <a:extLst xmlns:a="http://schemas.openxmlformats.org/drawingml/2006/main">
              <a:ext uri="{FF2B5EF4-FFF2-40B4-BE49-F238E27FC236}">
                <a16:creationId xmlns:a16="http://schemas.microsoft.com/office/drawing/2014/main" id="{EBD55C6A-393D-4DB6-8FBD-FCB615C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52975"/>
            <a:ext cx="552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20</a:t>
            </a:r>
          </a:p>
        </p:txBody>
      </p:sp>
      <p:sp>
        <p:nvSpPr>
          <p:cNvPr id="4" name="Comparação final r0c0">
            <a:extLst xmlns:a="http://schemas.openxmlformats.org/drawingml/2006/main">
              <a:ext uri="{FF2B5EF4-FFF2-40B4-BE49-F238E27FC236}">
                <a16:creationId xmlns:a16="http://schemas.microsoft.com/office/drawing/2014/main" id="{B2857A0B-259F-4B3C-96F3-B99B136E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573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Configuração</a:t>
            </a:r>
          </a:p>
        </p:txBody>
      </p:sp>
      <p:sp>
        <p:nvSpPr>
          <p:cNvPr id="5" name="Comparação final r0c1">
            <a:extLst xmlns:a="http://schemas.openxmlformats.org/drawingml/2006/main">
              <a:ext uri="{FF2B5EF4-FFF2-40B4-BE49-F238E27FC236}">
                <a16:creationId xmlns:a16="http://schemas.microsoft.com/office/drawing/2014/main" id="{CF044EAF-BB7B-4490-9564-69E20AE4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573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COCO AP</a:t>
            </a:r>
          </a:p>
        </p:txBody>
      </p:sp>
      <p:sp>
        <p:nvSpPr>
          <p:cNvPr id="6" name="Comparação final r0c2">
            <a:extLst xmlns:a="http://schemas.openxmlformats.org/drawingml/2006/main">
              <a:ext uri="{FF2B5EF4-FFF2-40B4-BE49-F238E27FC236}">
                <a16:creationId xmlns:a16="http://schemas.microsoft.com/office/drawing/2014/main" id="{610CAD74-032C-41DE-8380-8904C2EE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6573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GMAC</a:t>
            </a:r>
          </a:p>
        </p:txBody>
      </p:sp>
      <p:sp>
        <p:nvSpPr>
          <p:cNvPr id="7" name="Comparação final r0c3">
            <a:extLst xmlns:a="http://schemas.openxmlformats.org/drawingml/2006/main">
              <a:ext uri="{FF2B5EF4-FFF2-40B4-BE49-F238E27FC236}">
                <a16:creationId xmlns:a16="http://schemas.microsoft.com/office/drawing/2014/main" id="{241F45F8-7864-4A5F-8AA3-DE8976C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% EE</a:t>
            </a:r>
          </a:p>
        </p:txBody>
      </p:sp>
      <p:sp>
        <p:nvSpPr>
          <p:cNvPr id="8" name="Comparação final r0c4">
            <a:extLst xmlns:a="http://schemas.openxmlformats.org/drawingml/2006/main">
              <a:ext uri="{FF2B5EF4-FFF2-40B4-BE49-F238E27FC236}">
                <a16:creationId xmlns:a16="http://schemas.microsoft.com/office/drawing/2014/main" id="{60515787-C0F9-4D17-9819-1FD563F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573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preservado</a:t>
            </a:r>
          </a:p>
        </p:txBody>
      </p:sp>
      <p:sp>
        <p:nvSpPr>
          <p:cNvPr id="9" name="Comparação final r0c5">
            <a:extLst xmlns:a="http://schemas.openxmlformats.org/drawingml/2006/main">
              <a:ext uri="{FF2B5EF4-FFF2-40B4-BE49-F238E27FC236}">
                <a16:creationId xmlns:a16="http://schemas.microsoft.com/office/drawing/2014/main" id="{49CA1CAC-09A5-490E-BFFC-43AA190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57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Redução</a:t>
            </a:r>
          </a:p>
        </p:txBody>
      </p:sp>
      <p:sp>
        <p:nvSpPr>
          <p:cNvPr id="10" name="Comparação final r0c6">
            <a:extLst xmlns:a="http://schemas.openxmlformats.org/drawingml/2006/main">
              <a:ext uri="{FF2B5EF4-FFF2-40B4-BE49-F238E27FC236}">
                <a16:creationId xmlns:a16="http://schemas.microsoft.com/office/drawing/2014/main" id="{BDB32530-9662-4C09-8CBD-FDB2277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573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E9B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AP / GMAC</a:t>
            </a:r>
          </a:p>
        </p:txBody>
      </p:sp>
      <p:sp>
        <p:nvSpPr>
          <p:cNvPr id="11" name="Comparação final r1c0">
            <a:extLst xmlns:a="http://schemas.openxmlformats.org/drawingml/2006/main">
              <a:ext uri="{FF2B5EF4-FFF2-40B4-BE49-F238E27FC236}">
                <a16:creationId xmlns:a16="http://schemas.microsoft.com/office/drawing/2014/main" id="{9600C3BC-6BD9-496E-B9C3-ED3A02B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574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AdaCon 2B</a:t>
            </a:r>
          </a:p>
          <a:p xmlns:a="http://schemas.openxmlformats.org/drawingml/2006/main">
            <a:pPr algn="l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sem saída antecipada</a:t>
            </a:r>
          </a:p>
        </p:txBody>
      </p:sp>
      <p:sp>
        <p:nvSpPr>
          <p:cNvPr id="12" name="Comparação final r1c1">
            <a:extLst xmlns:a="http://schemas.openxmlformats.org/drawingml/2006/main">
              <a:ext uri="{FF2B5EF4-FFF2-40B4-BE49-F238E27FC236}">
                <a16:creationId xmlns:a16="http://schemas.microsoft.com/office/drawing/2014/main" id="{DA070E0D-56D0-41AD-9B90-0D731446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574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0,2546</a:t>
            </a:r>
          </a:p>
        </p:txBody>
      </p:sp>
      <p:sp>
        <p:nvSpPr>
          <p:cNvPr id="13" name="Comparação final r1c2">
            <a:extLst xmlns:a="http://schemas.openxmlformats.org/drawingml/2006/main">
              <a:ext uri="{FF2B5EF4-FFF2-40B4-BE49-F238E27FC236}">
                <a16:creationId xmlns:a16="http://schemas.microsoft.com/office/drawing/2014/main" id="{9D3271CB-4638-48E3-8D8D-1A1F4BEE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574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28,039</a:t>
            </a:r>
          </a:p>
        </p:txBody>
      </p:sp>
      <p:sp>
        <p:nvSpPr>
          <p:cNvPr id="14" name="Comparação final r1c3">
            <a:extLst xmlns:a="http://schemas.openxmlformats.org/drawingml/2006/main">
              <a:ext uri="{FF2B5EF4-FFF2-40B4-BE49-F238E27FC236}">
                <a16:creationId xmlns:a16="http://schemas.microsoft.com/office/drawing/2014/main" id="{582371CD-688C-4B2C-8CD9-B2646A2D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5740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0,00%</a:t>
            </a:r>
          </a:p>
        </p:txBody>
      </p:sp>
      <p:sp>
        <p:nvSpPr>
          <p:cNvPr id="15" name="Comparação final r1c4">
            <a:extLst xmlns:a="http://schemas.openxmlformats.org/drawingml/2006/main">
              <a:ext uri="{FF2B5EF4-FFF2-40B4-BE49-F238E27FC236}">
                <a16:creationId xmlns:a16="http://schemas.microsoft.com/office/drawing/2014/main" id="{6160EECC-22A5-4CB9-AD56-0A5166E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574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100,00%</a:t>
            </a:r>
          </a:p>
        </p:txBody>
      </p:sp>
      <p:sp>
        <p:nvSpPr>
          <p:cNvPr id="16" name="Comparação final r1c5">
            <a:extLst xmlns:a="http://schemas.openxmlformats.org/drawingml/2006/main">
              <a:ext uri="{FF2B5EF4-FFF2-40B4-BE49-F238E27FC236}">
                <a16:creationId xmlns:a16="http://schemas.microsoft.com/office/drawing/2014/main" id="{75AAF849-1111-4825-9A88-C365955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5740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0,00%</a:t>
            </a:r>
          </a:p>
        </p:txBody>
      </p:sp>
      <p:sp>
        <p:nvSpPr>
          <p:cNvPr id="17" name="Comparação final r1c6">
            <a:extLst xmlns:a="http://schemas.openxmlformats.org/drawingml/2006/main">
              <a:ext uri="{FF2B5EF4-FFF2-40B4-BE49-F238E27FC236}">
                <a16:creationId xmlns:a16="http://schemas.microsoft.com/office/drawing/2014/main" id="{7ECF719C-7C29-4510-95BB-8B3F8B6D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574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0,009080</a:t>
            </a:r>
          </a:p>
        </p:txBody>
      </p:sp>
      <p:sp>
        <p:nvSpPr>
          <p:cNvPr id="18" name="Comparação final r2c0">
            <a:extLst xmlns:a="http://schemas.openxmlformats.org/drawingml/2006/main">
              <a:ext uri="{FF2B5EF4-FFF2-40B4-BE49-F238E27FC236}">
                <a16:creationId xmlns:a16="http://schemas.microsoft.com/office/drawing/2014/main" id="{3CBA0DFE-51FE-4C30-9366-C8BC423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57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AdaCon 2B + EE</a:t>
            </a:r>
          </a:p>
          <a:p xmlns:a="http://schemas.openxmlformats.org/drawingml/2006/main">
            <a:pPr algn="l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camada 61</a:t>
            </a:r>
          </a:p>
        </p:txBody>
      </p:sp>
      <p:sp>
        <p:nvSpPr>
          <p:cNvPr id="19" name="Comparação final r2c1">
            <a:extLst xmlns:a="http://schemas.openxmlformats.org/drawingml/2006/main">
              <a:ext uri="{FF2B5EF4-FFF2-40B4-BE49-F238E27FC236}">
                <a16:creationId xmlns:a16="http://schemas.microsoft.com/office/drawing/2014/main" id="{BDBB42EA-A4CE-45E1-971B-AD73950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0,2491</a:t>
            </a:r>
          </a:p>
        </p:txBody>
      </p:sp>
      <p:sp>
        <p:nvSpPr>
          <p:cNvPr id="20" name="Comparação final r2c2">
            <a:extLst xmlns:a="http://schemas.openxmlformats.org/drawingml/2006/main">
              <a:ext uri="{FF2B5EF4-FFF2-40B4-BE49-F238E27FC236}">
                <a16:creationId xmlns:a16="http://schemas.microsoft.com/office/drawing/2014/main" id="{BDF70067-FBF3-4DD5-B9F0-4203941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574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27,187</a:t>
            </a:r>
          </a:p>
        </p:txBody>
      </p:sp>
      <p:sp>
        <p:nvSpPr>
          <p:cNvPr id="21" name="Comparação final r2c3">
            <a:extLst xmlns:a="http://schemas.openxmlformats.org/drawingml/2006/main">
              <a:ext uri="{FF2B5EF4-FFF2-40B4-BE49-F238E27FC236}">
                <a16:creationId xmlns:a16="http://schemas.microsoft.com/office/drawing/2014/main" id="{23F22F26-4E67-44D2-A569-C5182708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14,00%</a:t>
            </a:r>
          </a:p>
        </p:txBody>
      </p:sp>
      <p:sp>
        <p:nvSpPr>
          <p:cNvPr id="22" name="Comparação final r2c4">
            <a:extLst xmlns:a="http://schemas.openxmlformats.org/drawingml/2006/main">
              <a:ext uri="{FF2B5EF4-FFF2-40B4-BE49-F238E27FC236}">
                <a16:creationId xmlns:a16="http://schemas.microsoft.com/office/drawing/2014/main" id="{93413A73-588F-4483-8642-882AFEE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574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97,83%</a:t>
            </a:r>
          </a:p>
        </p:txBody>
      </p:sp>
      <p:sp>
        <p:nvSpPr>
          <p:cNvPr id="23" name="Comparação final r2c5">
            <a:extLst xmlns:a="http://schemas.openxmlformats.org/drawingml/2006/main">
              <a:ext uri="{FF2B5EF4-FFF2-40B4-BE49-F238E27FC236}">
                <a16:creationId xmlns:a16="http://schemas.microsoft.com/office/drawing/2014/main" id="{CC4AFFAC-C1E3-4E99-B226-80A455F5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574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3,04%</a:t>
            </a:r>
          </a:p>
        </p:txBody>
      </p:sp>
      <p:sp>
        <p:nvSpPr>
          <p:cNvPr id="24" name="Comparação final r2c6">
            <a:extLst xmlns:a="http://schemas.openxmlformats.org/drawingml/2006/main">
              <a:ext uri="{FF2B5EF4-FFF2-40B4-BE49-F238E27FC236}">
                <a16:creationId xmlns:a16="http://schemas.microsoft.com/office/drawing/2014/main" id="{3A661C90-C63A-4764-B2C6-3861235B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9525">
            <a:solidFill>
              <a:srgbClr val="D1DD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0,009162</a:t>
            </a:r>
          </a:p>
        </p:txBody>
      </p:sp>
      <p:sp>
        <p:nvSpPr>
          <p:cNvPr id="25" name="Configuração escolhida">
            <a:extLst xmlns:a="http://schemas.openxmlformats.org/drawingml/2006/main">
              <a:ext uri="{FF2B5EF4-FFF2-40B4-BE49-F238E27FC236}">
                <a16:creationId xmlns:a16="http://schemas.microsoft.com/office/drawing/2014/main" id="{F32690BE-A0AF-4CAE-BA8D-84C376F6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3B67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1">
                <a:solidFill>
                  <a:srgbClr val="573B67"/>
                </a:solidFill>
                <a:latin typeface="Arial Narrow"/>
                <a:ea typeface="Arial Narrow"/>
                <a:cs typeface="Arial Narrow"/>
              </a:rPr>
              <a:t>Configuração com saída antecipada: 2B + camada 61 + Média Ponderada + τ = 0,40.</a:t>
            </a:r>
          </a:p>
        </p:txBody>
      </p:sp>
      <p:sp>
        <p:nvSpPr>
          <p:cNvPr id="26" name="Conclusão da comparação">
            <a:extLst xmlns:a="http://schemas.openxmlformats.org/drawingml/2006/main">
              <a:ext uri="{FF2B5EF4-FFF2-40B4-BE49-F238E27FC236}">
                <a16:creationId xmlns:a16="http://schemas.microsoft.com/office/drawing/2014/main" id="{DF787DC5-8AAC-4F3E-BC71-E6A88CB2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• A saída antecipada encerra 14,00% das imagens e reduz 0,852 GMAC por imagem.</a:t>
            </a:r>
          </a:p>
          <a:p xmlns:a="http://schemas.openxmlformats.org/drawingml/2006/main">
            <a:pPr algn="l">
              <a:defRPr sz="142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defRPr>
            </a:pPr>
            <a:r>
              <a:rPr sz="1425" b="0">
                <a:solidFill>
                  <a:srgbClr val="273744"/>
                </a:solidFill>
                <a:latin typeface="Arial Narrow"/>
                <a:ea typeface="Arial Narrow"/>
                <a:cs typeface="Arial Narrow"/>
              </a:rPr>
              <a:t>• A relação AP/GMAC aumenta, com preservação de 97,83% do COCO AP do AdaCon base.</a:t>
            </a:r>
          </a:p>
        </p:txBody>
      </p:sp>
    </p:spTree>
    <p:extLst>
      <p:ext uri="{BB962C8B-B14F-4D97-AF65-F5344CB8AC3E}">
        <p14:creationId xmlns:p14="http://schemas.microsoft.com/office/powerpoint/2010/main" val="7381095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B1592F7-1883-4CEA-9EEC-8CDBB93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Conclusão e trabalhos futuros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FFFC7434-53F1-4A21-B76B-09F2E8C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8BC34847-F4B3-4AC1-B730-445412D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80" y="1285920"/>
            <a:ext cx="3761280" cy="51336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59979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5F5D2142-8BF6-439C-8F2F-F2BA670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1380960"/>
            <a:ext cx="3427920" cy="30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Conclusões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28D3B88D-397B-4AEB-8D45-D6157FB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1285920"/>
            <a:ext cx="3761280" cy="51336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51395E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66C839A0-1AEA-4289-A47E-CC03F2D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680" y="1380960"/>
            <a:ext cx="3427920" cy="30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92500" lnSpcReduction="9999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50" b="1" u="none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Trabalhos futuros</a:t>
            </a:r>
            <a:endParaRPr sz="1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40E1138F-173B-45A8-A140-27B22316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80" y="1800360"/>
            <a:ext cx="3761280" cy="242784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4F7F7"/>
          </a:solidFill>
          <a:ln xmlns:a="http://schemas.openxmlformats.org/drawingml/2006/main" w="11430">
            <a:solidFill>
              <a:srgbClr val="D7E1E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557C9578-18EE-48D5-A53B-91D917E6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960" y="1800360"/>
            <a:ext cx="3761280" cy="242784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7F1F8"/>
          </a:solidFill>
          <a:ln xmlns:a="http://schemas.openxmlformats.org/drawingml/2006/main" w="11430">
            <a:solidFill>
              <a:srgbClr val="E2D5E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3C153A79-7839-479E-AD93-DC08DE70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00" y="1981080"/>
            <a:ext cx="3332520" cy="199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Preservação de aproximadamente 97,7% do AP.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Redução de 3,04% a 4,48% do GMAC.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Configuração: 2B + camada 61 + Média Ponderada + τ = 0,40.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Limitação: a camada 61 restringe a redução máxima.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55863367-49CC-48DA-B627-44E2193B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840" y="1981080"/>
            <a:ext cx="3332520" cy="199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Avaliar saídas em camadas mais precoces.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Medir latência e energia no hardware-alvo.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Testar novos critérios de decisão e calibração.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28600" indent="-114480">
              <a:lnSpc>
                <a:spcPct val="100000"/>
              </a:lnSpc>
              <a:spcAft>
                <a:spcPts val="201"/>
              </a:spcAft>
              <a:buClr>
                <a:srgbClr val="434343"/>
              </a:buClr>
              <a:buFont typeface="Symbol"/>
              <a:buChar char=""/>
            </a:pPr>
            <a:r>
              <a:rPr sz="1750" b="0" u="none">
                <a:solidFill>
                  <a:srgbClr val="434343"/>
                </a:solidFill>
                <a:latin typeface="Arial Narrow"/>
                <a:ea typeface="Arial Narrow"/>
                <a:cs typeface="Arial Narrow"/>
              </a:rPr>
              <a:t>Aprofundar o efeito por classe, escala e quantidade de objetos.</a:t>
            </a:r>
            <a:endParaRPr sz="17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30250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9E2175CA-396C-41E1-8E9A-4D0D5F65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33360"/>
            <a:ext cx="7809480" cy="3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5724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900" b="1" u="none">
                <a:solidFill>
                  <a:srgbClr val="599794"/>
                </a:solidFill>
                <a:latin typeface="Rockwell"/>
                <a:ea typeface="Rockwell"/>
                <a:cs typeface="Rockwell"/>
              </a:rPr>
              <a:t>Referências</a:t>
            </a:r>
            <a:endParaRPr sz="2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6657C0F0-38C3-4A41-84C5-4C5482ED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80" y="1514520"/>
            <a:ext cx="7038000" cy="284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6000" indent="-216000">
              <a:lnSpc>
                <a:spcPct val="100000"/>
              </a:lnSpc>
              <a:buClr>
                <a:srgbClr val="51395E"/>
              </a:buClr>
              <a:buFont typeface="Wingdings 2"/>
              <a:buChar char=""/>
            </a:pPr>
            <a:r>
              <a:rPr sz="1700" b="0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NESEEM, M.; REDA, S. “AdaCon: Adaptive Context−Aware Object Detection for Resource−Constrained Embedded Devices.” In: Proc. ICCAD, 2021. pp. 1−9.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buClr>
                <a:srgbClr val="51395E"/>
              </a:buClr>
              <a:buFont typeface="Wingdings 2"/>
              <a:buChar char=""/>
            </a:pPr>
            <a:r>
              <a:rPr sz="1700" b="0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REDMON, J.; DIVVALA, S.; GIRSHICK, R.; FARHADI, A. “You Only Look Once: Unified, Real−Time Object Detection.” In: Proc. CVPR, 2016. pp. 779−788.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16000" indent="-216000">
              <a:lnSpc>
                <a:spcPct val="100000"/>
              </a:lnSpc>
              <a:buClr>
                <a:srgbClr val="51395E"/>
              </a:buClr>
              <a:buFont typeface="Wingdings 2"/>
              <a:buChar char=""/>
            </a:pPr>
            <a:r>
              <a:rPr sz="1700" b="0" u="none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TEERAPITTAYANON, S.; MCDANEL, B.; KUNG, H. T. “BranchyNet: Fast Inference via Early Exiting from Deep Neural Networks.” In: Proc. ICPR, 2016. pp. 2464−2469.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944D066E-CAF9-4157-9F1E-848DCDF6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600" y="4753080"/>
            <a:ext cx="551520" cy="38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5400" tIns="95400" rIns="95400" bIns="954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14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67F26D9F-2F97-4103-A46D-F2928EDB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320" y="1257480"/>
            <a:ext cx="6704640" cy="24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rmAutofit fontScale="40000" lnSpcReduction="19999"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8767813"/>
      </p:ext>
    </p:extLst>
  </p:cSld>
</p:sld>
</file>

<file path=ppt/theme/theme1.xml><?xml version="1.0" encoding="utf-8"?>
<a:theme xmlns:a="http://schemas.openxmlformats.org/drawingml/2006/main" name="GT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5997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2026-10-06T21:18:24.9980000Z</dcterms:created>
  <dcterms:modified xsi:type="dcterms:W3CDTF">2026-10-06T21:18:24.9980000Z</dcterms:modified>
</coreProperties>
</file>